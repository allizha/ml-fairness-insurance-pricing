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Ubuntu"/>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Ubuntu-regular.fntdata"/><Relationship Id="rId21" Type="http://schemas.openxmlformats.org/officeDocument/2006/relationships/slide" Target="slides/slide15.xml"/><Relationship Id="rId24" Type="http://schemas.openxmlformats.org/officeDocument/2006/relationships/font" Target="fonts/Ubuntu-italic.fntdata"/><Relationship Id="rId23" Type="http://schemas.openxmlformats.org/officeDocument/2006/relationships/font" Target="fonts/Ubuntu-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Ubuntu-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fb3ba3511_2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afb3ba3511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Welcome everyone.</a:t>
            </a:r>
            <a:endParaRPr/>
          </a:p>
          <a:p>
            <a:pPr indent="0" lvl="0" marL="0" rtl="0" algn="l">
              <a:lnSpc>
                <a:spcPct val="100000"/>
              </a:lnSpc>
              <a:spcBef>
                <a:spcPts val="0"/>
              </a:spcBef>
              <a:spcAft>
                <a:spcPts val="0"/>
              </a:spcAft>
              <a:buSzPts val="1100"/>
              <a:buNone/>
            </a:pPr>
            <a:r>
              <a:rPr lang="fr"/>
              <a:t>In this project, we aanalyze health insurance pricing using machine learning, and we examine how fairly a predictive model treats smokers and non-smokers.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fb3ba3511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afb3ba351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Our project is guided by </a:t>
            </a:r>
            <a:r>
              <a:rPr b="1" lang="fr"/>
              <a:t>two main research questions</a:t>
            </a:r>
            <a:r>
              <a:rPr lang="fr"/>
              <a:t>.</a:t>
            </a:r>
            <a:endParaRPr/>
          </a:p>
          <a:p>
            <a:pPr indent="0" lvl="0" marL="0" rtl="0" algn="l">
              <a:spcBef>
                <a:spcPts val="0"/>
              </a:spcBef>
              <a:spcAft>
                <a:spcPts val="0"/>
              </a:spcAft>
              <a:buClr>
                <a:schemeClr val="dk1"/>
              </a:buClr>
              <a:buSzPts val="1100"/>
              <a:buFont typeface="Arial"/>
              <a:buNone/>
            </a:pPr>
            <a:r>
              <a:rPr lang="fr"/>
              <a:t>First, we ask whether smokers systematically incur higher insurance costs.</a:t>
            </a:r>
            <a:endParaRPr/>
          </a:p>
          <a:p>
            <a:pPr indent="0" lvl="0" marL="0" rtl="0" algn="l">
              <a:spcBef>
                <a:spcPts val="0"/>
              </a:spcBef>
              <a:spcAft>
                <a:spcPts val="0"/>
              </a:spcAft>
              <a:buSzPts val="1100"/>
              <a:buNone/>
            </a:pPr>
            <a:r>
              <a:rPr lang="fr"/>
              <a:t>This helps us understand real-world differences in the data before modeling.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fr"/>
              <a:t>Second, we explore whether a predictive model reproduces those differences in a fair way, or whether it introduces additional bias.</a:t>
            </a:r>
            <a:endParaRPr/>
          </a:p>
          <a:p>
            <a:pPr indent="0" lvl="0" marL="0" rtl="0" algn="l">
              <a:lnSpc>
                <a:spcPct val="100000"/>
              </a:lnSpc>
              <a:spcBef>
                <a:spcPts val="0"/>
              </a:spcBef>
              <a:spcAft>
                <a:spcPts val="0"/>
              </a:spcAft>
              <a:buSzPts val="1100"/>
              <a:buNone/>
            </a:pPr>
            <a:r>
              <a:rPr lang="fr"/>
              <a:t>Together, these questions let us study both actual medical risk and algorithmic behavior.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fb3ba3511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afb3ba351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t>We work with a synthetic but realistic U.S. insurance dataset containing one million observations.</a:t>
            </a:r>
            <a:br>
              <a:rPr lang="fr"/>
            </a:br>
            <a:r>
              <a:rPr lang="fr"/>
              <a:t>It includes demographic factors, lifestyle variables such as BMI and exercise frequency, medical history features, and of course the annual insurance charges we want to predict.</a:t>
            </a:r>
            <a:endParaRPr/>
          </a:p>
          <a:p>
            <a:pPr indent="0" lvl="0" marL="0" rtl="0" algn="l">
              <a:lnSpc>
                <a:spcPct val="115000"/>
              </a:lnSpc>
              <a:spcBef>
                <a:spcPts val="1200"/>
              </a:spcBef>
              <a:spcAft>
                <a:spcPts val="0"/>
              </a:spcAft>
              <a:buClr>
                <a:schemeClr val="dk1"/>
              </a:buClr>
              <a:buSzPts val="1100"/>
              <a:buFont typeface="Arial"/>
              <a:buNone/>
            </a:pPr>
            <a:r>
              <a:rPr lang="fr"/>
              <a:t>To prepare the data, we enforced types, handled missing values, encoded categorical variables, split into train and test sets, and then performed correlation and distribution analysis.</a:t>
            </a:r>
            <a:br>
              <a:rPr lang="fr"/>
            </a:br>
            <a:r>
              <a:rPr lang="fr"/>
              <a:t>This established a clean foundation for building fair and accurate predictive models.</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fb3ba3511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afb3ba351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t>Here we look at which variables correlate most strongly with insurance charges.</a:t>
            </a:r>
            <a:br>
              <a:rPr lang="fr"/>
            </a:br>
            <a:r>
              <a:rPr lang="fr"/>
              <a:t> The standout feature is smoking status — smokers have substantially higher costs.</a:t>
            </a:r>
            <a:br>
              <a:rPr lang="fr"/>
            </a:br>
            <a:r>
              <a:rPr lang="fr"/>
              <a:t> Premium-level insurance plans and medical history also play major roles.</a:t>
            </a:r>
            <a:br>
              <a:rPr lang="fr"/>
            </a:br>
            <a:r>
              <a:rPr lang="fr"/>
              <a:t> BMI and exercise have moderate but meaningful effects.</a:t>
            </a:r>
            <a:endParaRPr/>
          </a:p>
          <a:p>
            <a:pPr indent="0" lvl="0" marL="0" rtl="0" algn="l">
              <a:lnSpc>
                <a:spcPct val="115000"/>
              </a:lnSpc>
              <a:spcBef>
                <a:spcPts val="1200"/>
              </a:spcBef>
              <a:spcAft>
                <a:spcPts val="0"/>
              </a:spcAft>
              <a:buClr>
                <a:schemeClr val="dk1"/>
              </a:buClr>
              <a:buSzPts val="1100"/>
              <a:buFont typeface="Arial"/>
              <a:buNone/>
            </a:pPr>
            <a:r>
              <a:rPr lang="fr"/>
              <a:t>This correlation structure already hints at fairness considerations: if smokers genuinely cost more, the model should reflect that — but without unnecessarily exaggerating the differences.</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fb3ba3511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afb3ba3511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t>Before training any model, we compare the actual charge distributions of smokers and non-smokers.</a:t>
            </a:r>
            <a:br>
              <a:rPr lang="fr"/>
            </a:br>
            <a:r>
              <a:rPr lang="fr"/>
              <a:t>We see a clear shift: smokers not clearly do cost more on average, where non-smokers pay significantly less</a:t>
            </a:r>
            <a:endParaRPr/>
          </a:p>
          <a:p>
            <a:pPr indent="0" lvl="0" marL="0" rtl="0" algn="l">
              <a:lnSpc>
                <a:spcPct val="115000"/>
              </a:lnSpc>
              <a:spcBef>
                <a:spcPts val="1200"/>
              </a:spcBef>
              <a:spcAft>
                <a:spcPts val="0"/>
              </a:spcAft>
              <a:buClr>
                <a:schemeClr val="dk1"/>
              </a:buClr>
              <a:buSzPts val="1100"/>
              <a:buFont typeface="Arial"/>
              <a:buNone/>
            </a:pPr>
            <a:r>
              <a:rPr lang="fr"/>
              <a:t>These differences are important — they reflect true underlying medical risk, not algorithmic bias.</a:t>
            </a:r>
            <a:br>
              <a:rPr lang="fr"/>
            </a:br>
            <a:r>
              <a:rPr lang="fr"/>
              <a:t>This gives us the baseline we’ll later use to evaluate fairness: are the models simply capturing real differences, or amplifying them?</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fb3ba3511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afb3ba3511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solidFill>
                  <a:schemeClr val="dk1"/>
                </a:solidFill>
              </a:rPr>
              <a:t>In this part of the project, our goal was to build predictive models that estimate individual medical charges.</a:t>
            </a:r>
            <a:br>
              <a:rPr lang="fr">
                <a:solidFill>
                  <a:schemeClr val="dk1"/>
                </a:solidFill>
              </a:rPr>
            </a:br>
            <a:r>
              <a:rPr lang="fr">
                <a:solidFill>
                  <a:schemeClr val="dk1"/>
                </a:solidFill>
              </a:rPr>
              <a:t> We trained five different regression approaches, each representing a different modelling philosophy.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We included Linear Regression as a simple baseline.</a:t>
            </a:r>
            <a:br>
              <a:rPr lang="fr">
                <a:solidFill>
                  <a:schemeClr val="dk1"/>
                </a:solidFill>
              </a:rPr>
            </a:br>
            <a:r>
              <a:rPr lang="fr">
                <a:solidFill>
                  <a:schemeClr val="dk1"/>
                </a:solidFill>
              </a:rPr>
              <a:t>Elastic Net gives us a more robust linear model by regularizing the coefficients, which helps prevent overfitting.</a:t>
            </a:r>
            <a:br>
              <a:rPr lang="fr">
                <a:solidFill>
                  <a:schemeClr val="dk1"/>
                </a:solidFill>
              </a:rPr>
            </a:br>
            <a:r>
              <a:rPr lang="fr">
                <a:solidFill>
                  <a:schemeClr val="dk1"/>
                </a:solidFill>
              </a:rPr>
              <a:t>Then we tested Gradient Boosting, which can capture complex nonlinear interactions automatically.</a:t>
            </a:r>
            <a:br>
              <a:rPr lang="fr">
                <a:solidFill>
                  <a:schemeClr val="dk1"/>
                </a:solidFill>
              </a:rPr>
            </a:br>
            <a:r>
              <a:rPr lang="fr">
                <a:solidFill>
                  <a:schemeClr val="dk1"/>
                </a:solidFill>
              </a:rPr>
              <a:t>We also trained a Multi-Layer Perceptron—a neural network—to see whether a flexible, non-linear architecture provides further gains.</a:t>
            </a:r>
            <a:br>
              <a:rPr lang="fr">
                <a:solidFill>
                  <a:schemeClr val="dk1"/>
                </a:solidFill>
              </a:rPr>
            </a:br>
            <a:r>
              <a:rPr lang="fr">
                <a:solidFill>
                  <a:schemeClr val="dk1"/>
                </a:solidFill>
              </a:rPr>
              <a:t>Finally, we added a Gamma Generalized Linear Model with a log link, because medical costs are strictly positive and highly skewed and this model is distribution-aware.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To evaluate all models fairly, we used three metrics: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fr">
                <a:solidFill>
                  <a:schemeClr val="dk1"/>
                </a:solidFill>
              </a:rPr>
              <a:t>R² tells us how much of the variation in medical charges we can explain.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fr">
                <a:solidFill>
                  <a:schemeClr val="dk1"/>
                </a:solidFill>
              </a:rPr>
              <a:t>MAE shows the average prediction error in Swiss francs—this is easy to interpret and relevant for fairness analysis later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fr">
                <a:solidFill>
                  <a:schemeClr val="dk1"/>
                </a:solidFill>
              </a:rPr>
              <a:t>RMSE penalises large errors more strongly, which is important because a small number of individuals can have very high medical costs.</a:t>
            </a:r>
            <a:endParaRPr>
              <a:solidFill>
                <a:schemeClr val="dk1"/>
              </a:solidFill>
            </a:endParaRPr>
          </a:p>
          <a:p>
            <a:pPr indent="0" lvl="0" marL="0" rtl="0" algn="l">
              <a:lnSpc>
                <a:spcPct val="115000"/>
              </a:lnSpc>
              <a:spcBef>
                <a:spcPts val="1200"/>
              </a:spcBef>
              <a:spcAft>
                <a:spcPts val="0"/>
              </a:spcAft>
              <a:buNone/>
            </a:pPr>
            <a:r>
              <a:rPr lang="fr">
                <a:solidFill>
                  <a:schemeClr val="dk1"/>
                </a:solidFill>
              </a:rPr>
              <a:t>Together, these metrics give us a complete picture of performance.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fb3ba3511_0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afb3ba3511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solidFill>
                  <a:schemeClr val="dk1"/>
                </a:solidFill>
              </a:rPr>
              <a:t>Here you can see the performance of all five models across the three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The first thing to notice is that all models except the Gamma GLM achieve extremely high R² values—around 0.99—meaning that they explain almost all variability in medical charges. This confirms that the dataset contains very strong predictive signals.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Looking at MAE and RMSE, we see clearer differences.</a:t>
            </a:r>
            <a:br>
              <a:rPr lang="fr">
                <a:solidFill>
                  <a:schemeClr val="dk1"/>
                </a:solidFill>
              </a:rPr>
            </a:br>
            <a:r>
              <a:rPr lang="fr">
                <a:solidFill>
                  <a:schemeClr val="dk1"/>
                </a:solidFill>
              </a:rPr>
              <a:t> Linear Regression surprisingly performs best, with the lowest MAE and the lowest RMSE.</a:t>
            </a:r>
            <a:br>
              <a:rPr lang="fr">
                <a:solidFill>
                  <a:schemeClr val="dk1"/>
                </a:solidFill>
              </a:rPr>
            </a:br>
            <a:r>
              <a:rPr lang="fr">
                <a:solidFill>
                  <a:schemeClr val="dk1"/>
                </a:solidFill>
              </a:rPr>
              <a:t> Elastic Net is essentially identical, which makes sense because Elastic Net reduces to a linear model when regularisation isn’t strongly needed.</a:t>
            </a:r>
            <a:br>
              <a:rPr lang="fr">
                <a:solidFill>
                  <a:schemeClr val="dk1"/>
                </a:solidFill>
              </a:rPr>
            </a:br>
            <a:r>
              <a:rPr lang="fr">
                <a:solidFill>
                  <a:schemeClr val="dk1"/>
                </a:solidFill>
              </a:rPr>
              <a:t> The Neural Network performs slightly worse, and Gradient Boosting also doesn't surpass the linear models in this case.</a:t>
            </a:r>
            <a:br>
              <a:rPr lang="fr">
                <a:solidFill>
                  <a:schemeClr val="dk1"/>
                </a:solidFill>
              </a:rPr>
            </a:br>
            <a:r>
              <a:rPr lang="fr">
                <a:solidFill>
                  <a:schemeClr val="dk1"/>
                </a:solidFill>
              </a:rPr>
              <a:t> The Gamma GLM performs the worst across all metrics—it struggles with very high-cost individuals.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The key takeaway is that despite testing more complex and flexible models, the simple Linear Regression model is the best performer in terms of RMSE, which is our main evaluation metric—because it reflects how well the model avoids large prediction errors.</a:t>
            </a:r>
            <a:br>
              <a:rPr lang="fr">
                <a:solidFill>
                  <a:schemeClr val="dk1"/>
                </a:solidFill>
              </a:rPr>
            </a:br>
            <a:r>
              <a:rPr lang="fr">
                <a:solidFill>
                  <a:schemeClr val="dk1"/>
                </a:solidFill>
              </a:rPr>
              <a:t> This tells us that the relationships in the data are mostly linear and well-structured, meaning that additional model complexity does not translate into better predictions.”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Based on this comparison, we select Linear Regression as our final predictive model for the fairness analysis.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fb3ba3511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fb3ba3511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fb3ba3511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afb3ba3511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fb3ba3511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afb3ba3511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fb3ba3511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afb3ba3511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fb3ba3511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afb3ba3511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fb3ba3511_0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afb3ba3511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fb3ba3511_0_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3afb3ba3511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fb3ba3511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afb3ba3511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1351475"/>
            <a:ext cx="8520600" cy="827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680"/>
              <a:buNone/>
            </a:pPr>
            <a:r>
              <a:rPr b="1" lang="fr" sz="2200">
                <a:latin typeface="Ubuntu"/>
                <a:ea typeface="Ubuntu"/>
                <a:cs typeface="Ubuntu"/>
                <a:sym typeface="Ubuntu"/>
              </a:rPr>
              <a:t>Predictive Modeling and Fairness in Health Insurance Pricing</a:t>
            </a:r>
            <a:endParaRPr b="1" sz="2200">
              <a:latin typeface="Ubuntu"/>
              <a:ea typeface="Ubuntu"/>
              <a:cs typeface="Ubuntu"/>
              <a:sym typeface="Ubuntu"/>
            </a:endParaRPr>
          </a:p>
        </p:txBody>
      </p:sp>
      <p:sp>
        <p:nvSpPr>
          <p:cNvPr id="100" name="Google Shape;100;p25"/>
          <p:cNvSpPr txBox="1"/>
          <p:nvPr>
            <p:ph idx="1" type="subTitle"/>
          </p:nvPr>
        </p:nvSpPr>
        <p:spPr>
          <a:xfrm>
            <a:off x="311700" y="2337450"/>
            <a:ext cx="8520600" cy="4665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i="1" lang="fr" sz="1600">
                <a:solidFill>
                  <a:schemeClr val="dk1"/>
                </a:solidFill>
                <a:latin typeface="Ubuntu"/>
                <a:ea typeface="Ubuntu"/>
                <a:cs typeface="Ubuntu"/>
                <a:sym typeface="Ubuntu"/>
              </a:rPr>
              <a:t>Flaminia Trinca, Allizha Theiventhiram</a:t>
            </a:r>
            <a:endParaRPr i="1" sz="1600">
              <a:solidFill>
                <a:schemeClr val="dk1"/>
              </a:solidFill>
              <a:latin typeface="Ubuntu"/>
              <a:ea typeface="Ubuntu"/>
              <a:cs typeface="Ubuntu"/>
              <a:sym typeface="Ubuntu"/>
            </a:endParaRPr>
          </a:p>
        </p:txBody>
      </p:sp>
      <p:sp>
        <p:nvSpPr>
          <p:cNvPr id="101" name="Google Shape;101;p25"/>
          <p:cNvSpPr txBox="1"/>
          <p:nvPr/>
        </p:nvSpPr>
        <p:spPr>
          <a:xfrm>
            <a:off x="1807650" y="2803950"/>
            <a:ext cx="5643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lang="fr" sz="1300">
                <a:solidFill>
                  <a:schemeClr val="dk1"/>
                </a:solidFill>
                <a:latin typeface="Ubuntu"/>
                <a:ea typeface="Ubuntu"/>
                <a:cs typeface="Ubuntu"/>
                <a:sym typeface="Ubuntu"/>
              </a:rPr>
              <a:t>Final</a:t>
            </a:r>
            <a:r>
              <a:rPr b="0" i="0" lang="fr" sz="1300" u="none" cap="none" strike="noStrike">
                <a:solidFill>
                  <a:schemeClr val="dk1"/>
                </a:solidFill>
                <a:latin typeface="Ubuntu"/>
                <a:ea typeface="Ubuntu"/>
                <a:cs typeface="Ubuntu"/>
                <a:sym typeface="Ubuntu"/>
              </a:rPr>
              <a:t> Presentation</a:t>
            </a:r>
            <a:br>
              <a:rPr b="0" i="0" lang="fr" sz="1300" u="none" cap="none" strike="noStrike">
                <a:solidFill>
                  <a:schemeClr val="dk1"/>
                </a:solidFill>
                <a:latin typeface="Ubuntu"/>
                <a:ea typeface="Ubuntu"/>
                <a:cs typeface="Ubuntu"/>
                <a:sym typeface="Ubuntu"/>
              </a:rPr>
            </a:br>
            <a:r>
              <a:rPr b="0" i="1" lang="fr" sz="1300" u="none" cap="none" strike="noStrike">
                <a:solidFill>
                  <a:schemeClr val="dk1"/>
                </a:solidFill>
                <a:latin typeface="Ubuntu"/>
                <a:ea typeface="Ubuntu"/>
                <a:cs typeface="Ubuntu"/>
                <a:sym typeface="Ubuntu"/>
              </a:rPr>
              <a:t>Machine Learning and Data Mining, JMCS 2025</a:t>
            </a:r>
            <a:endParaRPr b="0" i="1" sz="1300" u="none" cap="none" strike="noStrike">
              <a:solidFill>
                <a:schemeClr val="dk1"/>
              </a:solidFill>
              <a:latin typeface="Ubuntu"/>
              <a:ea typeface="Ubuntu"/>
              <a:cs typeface="Ubuntu"/>
              <a:sym typeface="Ubuntu"/>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Research</a:t>
            </a:r>
            <a:r>
              <a:rPr b="1" lang="fr">
                <a:latin typeface="Ubuntu"/>
                <a:ea typeface="Ubuntu"/>
                <a:cs typeface="Ubuntu"/>
                <a:sym typeface="Ubuntu"/>
              </a:rPr>
              <a:t> Questions</a:t>
            </a:r>
            <a:endParaRPr/>
          </a:p>
        </p:txBody>
      </p:sp>
      <p:sp>
        <p:nvSpPr>
          <p:cNvPr id="107" name="Google Shape;10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08" name="Google Shape;108;p26"/>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09" name="Google Shape;109;p26"/>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chemeClr val="dk1"/>
                </a:solidFill>
                <a:latin typeface="Ubuntu"/>
                <a:ea typeface="Ubuntu"/>
                <a:cs typeface="Ubuntu"/>
                <a:sym typeface="Ubuntu"/>
              </a:rPr>
              <a:t>Part 1 - </a:t>
            </a:r>
            <a:r>
              <a:rPr b="0" i="1" lang="fr" sz="700" u="none" cap="none" strike="noStrike">
                <a:solidFill>
                  <a:schemeClr val="dk1"/>
                </a:solidFill>
                <a:latin typeface="Ubuntu"/>
                <a:ea typeface="Ubuntu"/>
                <a:cs typeface="Ubuntu"/>
                <a:sym typeface="Ubuntu"/>
              </a:rPr>
              <a:t>Data Preparation </a:t>
            </a:r>
            <a:r>
              <a:rPr i="1" lang="fr" sz="700">
                <a:solidFill>
                  <a:schemeClr val="dk1"/>
                </a:solidFill>
                <a:latin typeface="Ubuntu"/>
                <a:ea typeface="Ubuntu"/>
                <a:cs typeface="Ubuntu"/>
                <a:sym typeface="Ubuntu"/>
              </a:rPr>
              <a:t>&amp; Exploration</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a:t>
            </a:r>
            <a:r>
              <a:rPr i="1" lang="fr" sz="700">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110" name="Google Shape;110;p26"/>
          <p:cNvSpPr txBox="1"/>
          <p:nvPr/>
        </p:nvSpPr>
        <p:spPr>
          <a:xfrm>
            <a:off x="399025" y="919200"/>
            <a:ext cx="8433300" cy="33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21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800">
                <a:solidFill>
                  <a:schemeClr val="dk1"/>
                </a:solidFill>
                <a:latin typeface="Ubuntu"/>
                <a:ea typeface="Ubuntu"/>
                <a:cs typeface="Ubuntu"/>
                <a:sym typeface="Ubuntu"/>
              </a:rPr>
              <a:t>Q1. </a:t>
            </a:r>
            <a:r>
              <a:rPr b="1" lang="fr" sz="1800">
                <a:solidFill>
                  <a:schemeClr val="dk1"/>
                </a:solidFill>
                <a:latin typeface="Ubuntu"/>
                <a:ea typeface="Ubuntu"/>
                <a:cs typeface="Ubuntu"/>
                <a:sym typeface="Ubuntu"/>
              </a:rPr>
              <a:t>Cost Differences</a:t>
            </a:r>
            <a:endParaRPr b="1" sz="1800">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rPr lang="fr" sz="1600">
                <a:solidFill>
                  <a:schemeClr val="dk1"/>
                </a:solidFill>
                <a:latin typeface="Ubuntu"/>
                <a:ea typeface="Ubuntu"/>
                <a:cs typeface="Ubuntu"/>
                <a:sym typeface="Ubuntu"/>
              </a:rPr>
              <a:t>Do smokers systematically incur higher insurance charges ?</a:t>
            </a:r>
            <a:endParaRPr sz="1600">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t/>
            </a:r>
            <a:endParaRPr sz="1600">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rPr lang="fr" sz="1800">
                <a:solidFill>
                  <a:schemeClr val="dk1"/>
                </a:solidFill>
                <a:latin typeface="Ubuntu"/>
                <a:ea typeface="Ubuntu"/>
                <a:cs typeface="Ubuntu"/>
                <a:sym typeface="Ubuntu"/>
              </a:rPr>
              <a:t>Q2. </a:t>
            </a:r>
            <a:r>
              <a:rPr b="1" lang="fr" sz="1800">
                <a:solidFill>
                  <a:schemeClr val="dk1"/>
                </a:solidFill>
                <a:latin typeface="Ubuntu"/>
                <a:ea typeface="Ubuntu"/>
                <a:cs typeface="Ubuntu"/>
                <a:sym typeface="Ubuntu"/>
              </a:rPr>
              <a:t>Algorithmic Fairness</a:t>
            </a:r>
            <a:endParaRPr b="1" sz="1800">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rPr lang="fr" sz="1600">
                <a:solidFill>
                  <a:schemeClr val="dk1"/>
                </a:solidFill>
                <a:latin typeface="Ubuntu"/>
                <a:ea typeface="Ubuntu"/>
                <a:cs typeface="Ubuntu"/>
                <a:sym typeface="Ubuntu"/>
              </a:rPr>
              <a:t>Does a predictive model reproduce real medical risk in a fair way ?</a:t>
            </a:r>
            <a:endParaRPr sz="1600">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t/>
            </a:r>
            <a:endParaRPr sz="16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500">
                <a:solidFill>
                  <a:schemeClr val="dk1"/>
                </a:solidFill>
                <a:latin typeface="Ubuntu"/>
                <a:ea typeface="Ubuntu"/>
                <a:cs typeface="Ubuntu"/>
                <a:sym typeface="Ubuntu"/>
              </a:rPr>
              <a:t>Together, these questions evaluate both </a:t>
            </a:r>
            <a:r>
              <a:rPr i="1" lang="fr" sz="1500">
                <a:solidFill>
                  <a:srgbClr val="F4CCCC"/>
                </a:solidFill>
                <a:latin typeface="Ubuntu"/>
                <a:ea typeface="Ubuntu"/>
                <a:cs typeface="Ubuntu"/>
                <a:sym typeface="Ubuntu"/>
              </a:rPr>
              <a:t>real-world cost differences</a:t>
            </a:r>
            <a:r>
              <a:rPr lang="fr" sz="1500">
                <a:solidFill>
                  <a:schemeClr val="dk1"/>
                </a:solidFill>
                <a:latin typeface="Ubuntu"/>
                <a:ea typeface="Ubuntu"/>
                <a:cs typeface="Ubuntu"/>
                <a:sym typeface="Ubuntu"/>
              </a:rPr>
              <a:t> and </a:t>
            </a:r>
            <a:r>
              <a:rPr i="1" lang="fr" sz="1500">
                <a:solidFill>
                  <a:srgbClr val="F4CCCC"/>
                </a:solidFill>
                <a:latin typeface="Ubuntu"/>
                <a:ea typeface="Ubuntu"/>
                <a:cs typeface="Ubuntu"/>
                <a:sym typeface="Ubuntu"/>
              </a:rPr>
              <a:t>algorithmic behaviour</a:t>
            </a:r>
            <a:r>
              <a:rPr lang="fr" sz="1500">
                <a:solidFill>
                  <a:srgbClr val="F4CCCC"/>
                </a:solidFill>
                <a:latin typeface="Ubuntu"/>
                <a:ea typeface="Ubuntu"/>
                <a:cs typeface="Ubuntu"/>
                <a:sym typeface="Ubuntu"/>
              </a:rPr>
              <a:t>.</a:t>
            </a:r>
            <a:endParaRPr sz="1500">
              <a:solidFill>
                <a:srgbClr val="F4CCCC"/>
              </a:solidFill>
              <a:latin typeface="Ubuntu"/>
              <a:ea typeface="Ubuntu"/>
              <a:cs typeface="Ubuntu"/>
              <a:sym typeface="Ubuntu"/>
            </a:endParaRPr>
          </a:p>
          <a:p>
            <a:pPr indent="0" lvl="0" marL="0" rtl="0" algn="l">
              <a:lnSpc>
                <a:spcPct val="115000"/>
              </a:lnSpc>
              <a:spcBef>
                <a:spcPts val="1200"/>
              </a:spcBef>
              <a:spcAft>
                <a:spcPts val="0"/>
              </a:spcAft>
              <a:buNone/>
            </a:pPr>
            <a:r>
              <a:t/>
            </a:r>
            <a:endParaRPr sz="1600">
              <a:solidFill>
                <a:schemeClr val="dk1"/>
              </a:solidFill>
              <a:latin typeface="Ubuntu"/>
              <a:ea typeface="Ubuntu"/>
              <a:cs typeface="Ubuntu"/>
              <a:sym typeface="Ubuntu"/>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Dataset Overview &amp; Pipeline</a:t>
            </a:r>
            <a:endParaRPr/>
          </a:p>
        </p:txBody>
      </p:sp>
      <p:sp>
        <p:nvSpPr>
          <p:cNvPr id="116" name="Google Shape;11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17" name="Google Shape;117;p27"/>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18" name="Google Shape;118;p27"/>
          <p:cNvSpPr txBox="1"/>
          <p:nvPr/>
        </p:nvSpPr>
        <p:spPr>
          <a:xfrm>
            <a:off x="311700" y="1387273"/>
            <a:ext cx="4644000" cy="272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fr">
                <a:solidFill>
                  <a:schemeClr val="dk1"/>
                </a:solidFill>
                <a:latin typeface="Ubuntu"/>
                <a:ea typeface="Ubuntu"/>
                <a:cs typeface="Ubuntu"/>
                <a:sym typeface="Ubuntu"/>
              </a:rPr>
              <a:t>Synthetic </a:t>
            </a:r>
            <a:r>
              <a:rPr lang="fr">
                <a:solidFill>
                  <a:schemeClr val="dk1"/>
                </a:solidFill>
                <a:latin typeface="Ubuntu"/>
                <a:ea typeface="Ubuntu"/>
                <a:cs typeface="Ubuntu"/>
                <a:sym typeface="Ubuntu"/>
              </a:rPr>
              <a:t>but realistic U.S. insurance dataset (Kaggle)</a:t>
            </a:r>
            <a:endParaRPr>
              <a:solidFill>
                <a:schemeClr val="dk1"/>
              </a:solidFill>
              <a:latin typeface="Ubuntu"/>
              <a:ea typeface="Ubuntu"/>
              <a:cs typeface="Ubuntu"/>
              <a:sym typeface="Ubuntu"/>
            </a:endParaRPr>
          </a:p>
          <a:p>
            <a:pPr indent="0" lvl="0" marL="0" rtl="0" algn="l">
              <a:lnSpc>
                <a:spcPct val="115000"/>
              </a:lnSpc>
              <a:spcBef>
                <a:spcPts val="1400"/>
              </a:spcBef>
              <a:spcAft>
                <a:spcPts val="0"/>
              </a:spcAft>
              <a:buNone/>
            </a:pPr>
            <a:r>
              <a:rPr lang="fr">
                <a:solidFill>
                  <a:schemeClr val="dk1"/>
                </a:solidFill>
                <a:latin typeface="Ubuntu"/>
                <a:ea typeface="Ubuntu"/>
                <a:cs typeface="Ubuntu"/>
                <a:sym typeface="Ubuntu"/>
              </a:rPr>
              <a:t>The dataset contains </a:t>
            </a:r>
            <a:r>
              <a:rPr b="1" lang="fr">
                <a:solidFill>
                  <a:srgbClr val="F4CCCC"/>
                </a:solidFill>
                <a:latin typeface="Ubuntu"/>
                <a:ea typeface="Ubuntu"/>
                <a:cs typeface="Ubuntu"/>
                <a:sym typeface="Ubuntu"/>
              </a:rPr>
              <a:t>1’000’000 observations</a:t>
            </a:r>
            <a:endParaRPr b="1">
              <a:solidFill>
                <a:srgbClr val="F4CCCC"/>
              </a:solidFill>
              <a:latin typeface="Ubuntu"/>
              <a:ea typeface="Ubuntu"/>
              <a:cs typeface="Ubuntu"/>
              <a:sym typeface="Ubuntu"/>
            </a:endParaRPr>
          </a:p>
          <a:p>
            <a:pPr indent="0" lvl="0" marL="0" rtl="0" algn="l">
              <a:lnSpc>
                <a:spcPct val="115000"/>
              </a:lnSpc>
              <a:spcBef>
                <a:spcPts val="1200"/>
              </a:spcBef>
              <a:spcAft>
                <a:spcPts val="0"/>
              </a:spcAft>
              <a:buNone/>
            </a:pPr>
            <a:r>
              <a:rPr lang="fr" sz="1500">
                <a:solidFill>
                  <a:schemeClr val="dk1"/>
                </a:solidFill>
                <a:latin typeface="Ubuntu"/>
                <a:ea typeface="Ubuntu"/>
                <a:cs typeface="Ubuntu"/>
                <a:sym typeface="Ubuntu"/>
              </a:rPr>
              <a:t>Variables include :</a:t>
            </a:r>
            <a:endParaRPr sz="1500">
              <a:solidFill>
                <a:schemeClr val="dk1"/>
              </a:solidFill>
              <a:latin typeface="Ubuntu"/>
              <a:ea typeface="Ubuntu"/>
              <a:cs typeface="Ubuntu"/>
              <a:sym typeface="Ubuntu"/>
            </a:endParaRPr>
          </a:p>
          <a:p>
            <a:pPr indent="-323850" lvl="0" marL="457200" rtl="0" algn="l">
              <a:lnSpc>
                <a:spcPct val="115000"/>
              </a:lnSpc>
              <a:spcBef>
                <a:spcPts val="1200"/>
              </a:spcBef>
              <a:spcAft>
                <a:spcPts val="0"/>
              </a:spcAft>
              <a:buClr>
                <a:schemeClr val="dk1"/>
              </a:buClr>
              <a:buSzPts val="1500"/>
              <a:buFont typeface="Ubuntu"/>
              <a:buChar char="●"/>
            </a:pPr>
            <a:r>
              <a:rPr b="1" lang="fr" sz="1500">
                <a:solidFill>
                  <a:schemeClr val="dk1"/>
                </a:solidFill>
                <a:latin typeface="Ubuntu"/>
                <a:ea typeface="Ubuntu"/>
                <a:cs typeface="Ubuntu"/>
                <a:sym typeface="Ubuntu"/>
              </a:rPr>
              <a:t>Demographics</a:t>
            </a:r>
            <a:r>
              <a:rPr lang="fr" sz="1500">
                <a:solidFill>
                  <a:schemeClr val="dk1"/>
                </a:solidFill>
                <a:latin typeface="Ubuntu"/>
                <a:ea typeface="Ubuntu"/>
                <a:cs typeface="Ubuntu"/>
                <a:sym typeface="Ubuntu"/>
              </a:rPr>
              <a:t> : age, gender, region</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Char char="●"/>
            </a:pPr>
            <a:r>
              <a:rPr b="1" lang="fr" sz="1500">
                <a:solidFill>
                  <a:schemeClr val="dk1"/>
                </a:solidFill>
                <a:latin typeface="Ubuntu"/>
                <a:ea typeface="Ubuntu"/>
                <a:cs typeface="Ubuntu"/>
                <a:sym typeface="Ubuntu"/>
              </a:rPr>
              <a:t>Lifestyle </a:t>
            </a:r>
            <a:r>
              <a:rPr lang="fr" sz="1500">
                <a:solidFill>
                  <a:schemeClr val="dk1"/>
                </a:solidFill>
                <a:latin typeface="Ubuntu"/>
                <a:ea typeface="Ubuntu"/>
                <a:cs typeface="Ubuntu"/>
                <a:sym typeface="Ubuntu"/>
              </a:rPr>
              <a:t>: BMI, exercise frequency, smoking</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Char char="●"/>
            </a:pPr>
            <a:r>
              <a:rPr b="1" lang="fr" sz="1500">
                <a:solidFill>
                  <a:schemeClr val="dk1"/>
                </a:solidFill>
                <a:latin typeface="Ubuntu"/>
                <a:ea typeface="Ubuntu"/>
                <a:cs typeface="Ubuntu"/>
                <a:sym typeface="Ubuntu"/>
              </a:rPr>
              <a:t>Medical history </a:t>
            </a:r>
            <a:r>
              <a:rPr lang="fr" sz="1500">
                <a:solidFill>
                  <a:schemeClr val="dk1"/>
                </a:solidFill>
                <a:latin typeface="Ubuntu"/>
                <a:ea typeface="Ubuntu"/>
                <a:cs typeface="Ubuntu"/>
                <a:sym typeface="Ubuntu"/>
              </a:rPr>
              <a:t>(</a:t>
            </a:r>
            <a:r>
              <a:rPr lang="fr" sz="1500">
                <a:solidFill>
                  <a:schemeClr val="dk1"/>
                </a:solidFill>
                <a:latin typeface="Ubuntu"/>
                <a:ea typeface="Ubuntu"/>
                <a:cs typeface="Ubuntu"/>
                <a:sym typeface="Ubuntu"/>
              </a:rPr>
              <a:t>individual</a:t>
            </a:r>
            <a:r>
              <a:rPr lang="fr" sz="1500">
                <a:solidFill>
                  <a:schemeClr val="dk1"/>
                </a:solidFill>
                <a:latin typeface="Ubuntu"/>
                <a:ea typeface="Ubuntu"/>
                <a:cs typeface="Ubuntu"/>
                <a:sym typeface="Ubuntu"/>
              </a:rPr>
              <a:t> and family)</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Char char="●"/>
            </a:pPr>
            <a:r>
              <a:rPr b="1" lang="fr" sz="1500">
                <a:solidFill>
                  <a:schemeClr val="dk1"/>
                </a:solidFill>
                <a:latin typeface="Ubuntu"/>
                <a:ea typeface="Ubuntu"/>
                <a:cs typeface="Ubuntu"/>
                <a:sym typeface="Ubuntu"/>
              </a:rPr>
              <a:t>Insurance plan</a:t>
            </a:r>
            <a:r>
              <a:rPr lang="fr" sz="1500">
                <a:solidFill>
                  <a:schemeClr val="dk1"/>
                </a:solidFill>
                <a:latin typeface="Ubuntu"/>
                <a:ea typeface="Ubuntu"/>
                <a:cs typeface="Ubuntu"/>
                <a:sym typeface="Ubuntu"/>
              </a:rPr>
              <a:t> (premium vs. standard)</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rgbClr val="F4CCCC"/>
              </a:buClr>
              <a:buSzPts val="1500"/>
              <a:buFont typeface="Ubuntu"/>
              <a:buChar char="●"/>
            </a:pPr>
            <a:r>
              <a:rPr b="1" lang="fr" sz="1500">
                <a:solidFill>
                  <a:srgbClr val="F4CCCC"/>
                </a:solidFill>
                <a:latin typeface="Ubuntu"/>
                <a:ea typeface="Ubuntu"/>
                <a:cs typeface="Ubuntu"/>
                <a:sym typeface="Ubuntu"/>
              </a:rPr>
              <a:t>Annual charges (target)</a:t>
            </a:r>
            <a:endParaRPr b="1" sz="2200">
              <a:solidFill>
                <a:srgbClr val="F4CCCC"/>
              </a:solidFill>
              <a:latin typeface="Ubuntu"/>
              <a:ea typeface="Ubuntu"/>
              <a:cs typeface="Ubuntu"/>
              <a:sym typeface="Ubuntu"/>
            </a:endParaRPr>
          </a:p>
        </p:txBody>
      </p:sp>
      <p:sp>
        <p:nvSpPr>
          <p:cNvPr id="119" name="Google Shape;119;p27"/>
          <p:cNvSpPr txBox="1"/>
          <p:nvPr/>
        </p:nvSpPr>
        <p:spPr>
          <a:xfrm>
            <a:off x="5252600" y="1661025"/>
            <a:ext cx="3693600" cy="235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fr" sz="1500">
                <a:solidFill>
                  <a:schemeClr val="dk1"/>
                </a:solidFill>
                <a:latin typeface="Ubuntu"/>
                <a:ea typeface="Ubuntu"/>
                <a:cs typeface="Ubuntu"/>
                <a:sym typeface="Ubuntu"/>
              </a:rPr>
              <a:t>Steps performed :</a:t>
            </a:r>
            <a:endParaRPr sz="1500">
              <a:solidFill>
                <a:schemeClr val="dk1"/>
              </a:solidFill>
              <a:latin typeface="Ubuntu"/>
              <a:ea typeface="Ubuntu"/>
              <a:cs typeface="Ubuntu"/>
              <a:sym typeface="Ubuntu"/>
            </a:endParaRPr>
          </a:p>
          <a:p>
            <a:pPr indent="0" lvl="0" marL="0" rtl="0" algn="l">
              <a:lnSpc>
                <a:spcPct val="100000"/>
              </a:lnSpc>
              <a:spcBef>
                <a:spcPts val="0"/>
              </a:spcBef>
              <a:spcAft>
                <a:spcPts val="0"/>
              </a:spcAft>
              <a:buNone/>
            </a:pPr>
            <a:r>
              <a:t/>
            </a:r>
            <a:endParaRPr sz="1500">
              <a:solidFill>
                <a:schemeClr val="dk1"/>
              </a:solidFill>
              <a:latin typeface="Ubuntu"/>
              <a:ea typeface="Ubuntu"/>
              <a:cs typeface="Ubuntu"/>
              <a:sym typeface="Ubuntu"/>
            </a:endParaRPr>
          </a:p>
          <a:p>
            <a:pPr indent="-323850" lvl="0" marL="457200" rtl="0" algn="l">
              <a:lnSpc>
                <a:spcPct val="115000"/>
              </a:lnSpc>
              <a:spcBef>
                <a:spcPts val="120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Enforce types</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Handle missing values</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Encode categoricals</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Split data</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Correlation analysis</a:t>
            </a:r>
            <a:endParaRPr sz="1500">
              <a:solidFill>
                <a:schemeClr val="dk1"/>
              </a:solidFill>
              <a:latin typeface="Ubuntu"/>
              <a:ea typeface="Ubuntu"/>
              <a:cs typeface="Ubuntu"/>
              <a:sym typeface="Ubuntu"/>
            </a:endParaRPr>
          </a:p>
          <a:p>
            <a:pPr indent="-323850" lvl="0" marL="457200" rtl="0" algn="l">
              <a:lnSpc>
                <a:spcPct val="115000"/>
              </a:lnSpc>
              <a:spcBef>
                <a:spcPts val="0"/>
              </a:spcBef>
              <a:spcAft>
                <a:spcPts val="0"/>
              </a:spcAft>
              <a:buClr>
                <a:schemeClr val="dk1"/>
              </a:buClr>
              <a:buSzPts val="1500"/>
              <a:buFont typeface="Ubuntu"/>
              <a:buAutoNum type="arabicPeriod"/>
            </a:pPr>
            <a:r>
              <a:rPr lang="fr" sz="1500">
                <a:solidFill>
                  <a:schemeClr val="dk1"/>
                </a:solidFill>
                <a:latin typeface="Ubuntu"/>
                <a:ea typeface="Ubuntu"/>
                <a:cs typeface="Ubuntu"/>
                <a:sym typeface="Ubuntu"/>
              </a:rPr>
              <a:t>Distribution analysis</a:t>
            </a:r>
            <a:endParaRPr sz="1500">
              <a:solidFill>
                <a:schemeClr val="dk1"/>
              </a:solidFill>
              <a:latin typeface="Ubuntu"/>
              <a:ea typeface="Ubuntu"/>
              <a:cs typeface="Ubuntu"/>
              <a:sym typeface="Ubuntu"/>
            </a:endParaRPr>
          </a:p>
        </p:txBody>
      </p:sp>
      <p:sp>
        <p:nvSpPr>
          <p:cNvPr id="120" name="Google Shape;120;p27"/>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chemeClr val="dk1"/>
                </a:solidFill>
                <a:latin typeface="Ubuntu"/>
                <a:ea typeface="Ubuntu"/>
                <a:cs typeface="Ubuntu"/>
                <a:sym typeface="Ubuntu"/>
              </a:rPr>
              <a:t>Part 1 - </a:t>
            </a:r>
            <a:r>
              <a:rPr b="0" i="1" lang="fr" sz="700" u="none" cap="none" strike="noStrike">
                <a:solidFill>
                  <a:schemeClr val="dk1"/>
                </a:solidFill>
                <a:latin typeface="Ubuntu"/>
                <a:ea typeface="Ubuntu"/>
                <a:cs typeface="Ubuntu"/>
                <a:sym typeface="Ubuntu"/>
              </a:rPr>
              <a:t>Data Preparation </a:t>
            </a:r>
            <a:r>
              <a:rPr i="1" lang="fr" sz="700">
                <a:solidFill>
                  <a:schemeClr val="dk1"/>
                </a:solidFill>
                <a:latin typeface="Ubuntu"/>
                <a:ea typeface="Ubuntu"/>
                <a:cs typeface="Ubuntu"/>
                <a:sym typeface="Ubuntu"/>
              </a:rPr>
              <a:t>&amp; Exploration</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a:t>
            </a:r>
            <a:r>
              <a:rPr i="1" lang="fr" sz="700">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Feature Correlations</a:t>
            </a:r>
            <a:endParaRPr/>
          </a:p>
        </p:txBody>
      </p:sp>
      <p:sp>
        <p:nvSpPr>
          <p:cNvPr id="126" name="Google Shape;12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27" name="Google Shape;127;p28"/>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28" name="Google Shape;128;p28"/>
          <p:cNvSpPr txBox="1"/>
          <p:nvPr/>
        </p:nvSpPr>
        <p:spPr>
          <a:xfrm>
            <a:off x="270275" y="2108875"/>
            <a:ext cx="4019400" cy="28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fr" sz="1500">
                <a:solidFill>
                  <a:schemeClr val="dk1"/>
                </a:solidFill>
                <a:latin typeface="Ubuntu"/>
                <a:ea typeface="Ubuntu"/>
                <a:cs typeface="Ubuntu"/>
                <a:sym typeface="Ubuntu"/>
              </a:rPr>
              <a:t>Key observations:</a:t>
            </a:r>
            <a:endParaRPr sz="1500">
              <a:solidFill>
                <a:schemeClr val="dk1"/>
              </a:solidFill>
              <a:latin typeface="Ubuntu"/>
              <a:ea typeface="Ubuntu"/>
              <a:cs typeface="Ubuntu"/>
              <a:sym typeface="Ubuntu"/>
            </a:endParaRPr>
          </a:p>
          <a:p>
            <a:pPr indent="-311150" lvl="0" marL="457200" rtl="0" algn="l">
              <a:lnSpc>
                <a:spcPct val="150000"/>
              </a:lnSpc>
              <a:spcBef>
                <a:spcPts val="1200"/>
              </a:spcBef>
              <a:spcAft>
                <a:spcPts val="0"/>
              </a:spcAft>
              <a:buClr>
                <a:schemeClr val="dk1"/>
              </a:buClr>
              <a:buSzPts val="1300"/>
              <a:buFont typeface="Ubuntu"/>
              <a:buChar char="●"/>
            </a:pPr>
            <a:r>
              <a:rPr b="1" i="1" lang="fr" sz="1300">
                <a:solidFill>
                  <a:schemeClr val="dk1"/>
                </a:solidFill>
                <a:latin typeface="Ubuntu"/>
                <a:ea typeface="Ubuntu"/>
                <a:cs typeface="Ubuntu"/>
                <a:sym typeface="Ubuntu"/>
              </a:rPr>
              <a:t>smoker_yes</a:t>
            </a:r>
            <a:r>
              <a:rPr b="1" lang="fr" sz="1300">
                <a:solidFill>
                  <a:schemeClr val="dk1"/>
                </a:solidFill>
                <a:latin typeface="Ubuntu"/>
                <a:ea typeface="Ubuntu"/>
                <a:cs typeface="Ubuntu"/>
                <a:sym typeface="Ubuntu"/>
              </a:rPr>
              <a:t> </a:t>
            </a:r>
            <a:r>
              <a:rPr lang="fr" sz="1300">
                <a:solidFill>
                  <a:schemeClr val="dk1"/>
                </a:solidFill>
                <a:latin typeface="Ubuntu"/>
                <a:ea typeface="Ubuntu"/>
                <a:cs typeface="Ubuntu"/>
                <a:sym typeface="Ubuntu"/>
              </a:rPr>
              <a:t>strongly correlates with charges</a:t>
            </a:r>
            <a:endParaRPr sz="1300">
              <a:solidFill>
                <a:schemeClr val="dk1"/>
              </a:solidFill>
              <a:latin typeface="Ubuntu"/>
              <a:ea typeface="Ubuntu"/>
              <a:cs typeface="Ubuntu"/>
              <a:sym typeface="Ubuntu"/>
            </a:endParaRPr>
          </a:p>
          <a:p>
            <a:pPr indent="-311150" lvl="0" marL="457200" rtl="0" algn="l">
              <a:lnSpc>
                <a:spcPct val="150000"/>
              </a:lnSpc>
              <a:spcBef>
                <a:spcPts val="0"/>
              </a:spcBef>
              <a:spcAft>
                <a:spcPts val="0"/>
              </a:spcAft>
              <a:buClr>
                <a:schemeClr val="dk1"/>
              </a:buClr>
              <a:buSzPts val="1300"/>
              <a:buFont typeface="Ubuntu"/>
              <a:buChar char="●"/>
            </a:pPr>
            <a:r>
              <a:rPr b="1" lang="fr" sz="1300">
                <a:solidFill>
                  <a:schemeClr val="dk1"/>
                </a:solidFill>
                <a:latin typeface="Ubuntu"/>
                <a:ea typeface="Ubuntu"/>
                <a:cs typeface="Ubuntu"/>
                <a:sym typeface="Ubuntu"/>
              </a:rPr>
              <a:t>Coverage level (premium) </a:t>
            </a:r>
            <a:r>
              <a:rPr lang="fr" sz="1300">
                <a:solidFill>
                  <a:schemeClr val="dk1"/>
                </a:solidFill>
                <a:latin typeface="Ubuntu"/>
                <a:ea typeface="Ubuntu"/>
                <a:cs typeface="Ubuntu"/>
                <a:sym typeface="Ubuntu"/>
              </a:rPr>
              <a:t>is also a major driver</a:t>
            </a:r>
            <a:endParaRPr sz="1300">
              <a:solidFill>
                <a:schemeClr val="dk1"/>
              </a:solidFill>
              <a:latin typeface="Ubuntu"/>
              <a:ea typeface="Ubuntu"/>
              <a:cs typeface="Ubuntu"/>
              <a:sym typeface="Ubuntu"/>
            </a:endParaRPr>
          </a:p>
          <a:p>
            <a:pPr indent="-311150" lvl="0" marL="457200" rtl="0" algn="l">
              <a:lnSpc>
                <a:spcPct val="150000"/>
              </a:lnSpc>
              <a:spcBef>
                <a:spcPts val="0"/>
              </a:spcBef>
              <a:spcAft>
                <a:spcPts val="0"/>
              </a:spcAft>
              <a:buClr>
                <a:schemeClr val="dk1"/>
              </a:buClr>
              <a:buSzPts val="1300"/>
              <a:buFont typeface="Ubuntu"/>
              <a:buChar char="●"/>
            </a:pPr>
            <a:r>
              <a:rPr b="1" lang="fr" sz="1300">
                <a:solidFill>
                  <a:schemeClr val="dk1"/>
                </a:solidFill>
                <a:latin typeface="Ubuntu"/>
                <a:ea typeface="Ubuntu"/>
                <a:cs typeface="Ubuntu"/>
                <a:sym typeface="Ubuntu"/>
              </a:rPr>
              <a:t>Medical history </a:t>
            </a:r>
            <a:r>
              <a:rPr lang="fr" sz="1300">
                <a:solidFill>
                  <a:schemeClr val="dk1"/>
                </a:solidFill>
                <a:latin typeface="Ubuntu"/>
                <a:ea typeface="Ubuntu"/>
                <a:cs typeface="Ubuntu"/>
                <a:sym typeface="Ubuntu"/>
              </a:rPr>
              <a:t>contributes significantly</a:t>
            </a:r>
            <a:endParaRPr sz="1300">
              <a:solidFill>
                <a:schemeClr val="dk1"/>
              </a:solidFill>
              <a:latin typeface="Ubuntu"/>
              <a:ea typeface="Ubuntu"/>
              <a:cs typeface="Ubuntu"/>
              <a:sym typeface="Ubuntu"/>
            </a:endParaRPr>
          </a:p>
          <a:p>
            <a:pPr indent="-311150" lvl="0" marL="457200" rtl="0" algn="l">
              <a:lnSpc>
                <a:spcPct val="150000"/>
              </a:lnSpc>
              <a:spcBef>
                <a:spcPts val="0"/>
              </a:spcBef>
              <a:spcAft>
                <a:spcPts val="0"/>
              </a:spcAft>
              <a:buClr>
                <a:schemeClr val="dk1"/>
              </a:buClr>
              <a:buSzPts val="1300"/>
              <a:buFont typeface="Ubuntu"/>
              <a:buChar char="●"/>
            </a:pPr>
            <a:r>
              <a:rPr b="1" lang="fr" sz="1300">
                <a:solidFill>
                  <a:schemeClr val="dk1"/>
                </a:solidFill>
                <a:latin typeface="Ubuntu"/>
                <a:ea typeface="Ubuntu"/>
                <a:cs typeface="Ubuntu"/>
                <a:sym typeface="Ubuntu"/>
              </a:rPr>
              <a:t>BMI and exercise</a:t>
            </a:r>
            <a:r>
              <a:rPr lang="fr" sz="1300">
                <a:solidFill>
                  <a:schemeClr val="dk1"/>
                </a:solidFill>
                <a:latin typeface="Ubuntu"/>
                <a:ea typeface="Ubuntu"/>
                <a:cs typeface="Ubuntu"/>
                <a:sym typeface="Ubuntu"/>
              </a:rPr>
              <a:t> have moderate effects</a:t>
            </a: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1200"/>
              </a:spcBef>
              <a:spcAft>
                <a:spcPts val="0"/>
              </a:spcAft>
              <a:buNone/>
            </a:pPr>
            <a:r>
              <a:t/>
            </a:r>
            <a:endParaRPr sz="2000">
              <a:solidFill>
                <a:schemeClr val="dk1"/>
              </a:solidFill>
              <a:latin typeface="Ubuntu"/>
              <a:ea typeface="Ubuntu"/>
              <a:cs typeface="Ubuntu"/>
              <a:sym typeface="Ubuntu"/>
            </a:endParaRPr>
          </a:p>
        </p:txBody>
      </p:sp>
      <p:pic>
        <p:nvPicPr>
          <p:cNvPr id="129" name="Google Shape;129;p28"/>
          <p:cNvPicPr preferRelativeResize="0"/>
          <p:nvPr/>
        </p:nvPicPr>
        <p:blipFill>
          <a:blip r:embed="rId3">
            <a:alphaModFix/>
          </a:blip>
          <a:stretch>
            <a:fillRect/>
          </a:stretch>
        </p:blipFill>
        <p:spPr>
          <a:xfrm>
            <a:off x="4572000" y="422075"/>
            <a:ext cx="3967358" cy="4299350"/>
          </a:xfrm>
          <a:prstGeom prst="rect">
            <a:avLst/>
          </a:prstGeom>
          <a:noFill/>
          <a:ln>
            <a:noFill/>
          </a:ln>
        </p:spPr>
      </p:pic>
      <p:sp>
        <p:nvSpPr>
          <p:cNvPr id="130" name="Google Shape;130;p28"/>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chemeClr val="dk1"/>
                </a:solidFill>
                <a:latin typeface="Ubuntu"/>
                <a:ea typeface="Ubuntu"/>
                <a:cs typeface="Ubuntu"/>
                <a:sym typeface="Ubuntu"/>
              </a:rPr>
              <a:t>Part 1 - </a:t>
            </a:r>
            <a:r>
              <a:rPr b="0" i="1" lang="fr" sz="700" u="none" cap="none" strike="noStrike">
                <a:solidFill>
                  <a:schemeClr val="dk1"/>
                </a:solidFill>
                <a:latin typeface="Ubuntu"/>
                <a:ea typeface="Ubuntu"/>
                <a:cs typeface="Ubuntu"/>
                <a:sym typeface="Ubuntu"/>
              </a:rPr>
              <a:t>Data Preparation </a:t>
            </a:r>
            <a:r>
              <a:rPr i="1" lang="fr" sz="700">
                <a:solidFill>
                  <a:schemeClr val="dk1"/>
                </a:solidFill>
                <a:latin typeface="Ubuntu"/>
                <a:ea typeface="Ubuntu"/>
                <a:cs typeface="Ubuntu"/>
                <a:sym typeface="Ubuntu"/>
              </a:rPr>
              <a:t>&amp; Exploration</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a:t>
            </a:r>
            <a:r>
              <a:rPr i="1" lang="fr" sz="700">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131" name="Google Shape;131;p28"/>
          <p:cNvSpPr/>
          <p:nvPr/>
        </p:nvSpPr>
        <p:spPr>
          <a:xfrm>
            <a:off x="5807100" y="632300"/>
            <a:ext cx="129900" cy="115500"/>
          </a:xfrm>
          <a:prstGeom prst="star5">
            <a:avLst>
              <a:gd fmla="val 19098" name="adj"/>
              <a:gd fmla="val 105146" name="hf"/>
              <a:gd fmla="val 110557" name="vf"/>
            </a:avLst>
          </a:prstGeom>
          <a:solidFill>
            <a:srgbClr val="FF0000"/>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8"/>
          <p:cNvSpPr/>
          <p:nvPr/>
        </p:nvSpPr>
        <p:spPr>
          <a:xfrm>
            <a:off x="4205563" y="2582103"/>
            <a:ext cx="226500" cy="231300"/>
          </a:xfrm>
          <a:prstGeom prst="star5">
            <a:avLst>
              <a:gd fmla="val 19098" name="adj"/>
              <a:gd fmla="val 105146" name="hf"/>
              <a:gd fmla="val 110557" name="vf"/>
            </a:avLst>
          </a:prstGeom>
          <a:solidFill>
            <a:srgbClr val="FF0000"/>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8"/>
          <p:cNvSpPr txBox="1"/>
          <p:nvPr/>
        </p:nvSpPr>
        <p:spPr>
          <a:xfrm>
            <a:off x="207075" y="1015825"/>
            <a:ext cx="4019400" cy="8196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i="1" lang="fr" sz="1250">
                <a:solidFill>
                  <a:schemeClr val="dk1"/>
                </a:solidFill>
                <a:latin typeface="Ubuntu"/>
                <a:ea typeface="Ubuntu"/>
                <a:cs typeface="Ubuntu"/>
                <a:sym typeface="Ubuntu"/>
              </a:rPr>
              <a:t>“This correlation structure already anticipates fairness : smokers truly cost more, so the model will also reflect that and this is medically justified.”</a:t>
            </a:r>
            <a:endParaRPr i="1" sz="2000">
              <a:solidFill>
                <a:schemeClr val="dk1"/>
              </a:solidFill>
              <a:latin typeface="Ubuntu"/>
              <a:ea typeface="Ubuntu"/>
              <a:cs typeface="Ubuntu"/>
              <a:sym typeface="Ubuntu"/>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True Cost Differences in the Data</a:t>
            </a:r>
            <a:endParaRPr/>
          </a:p>
        </p:txBody>
      </p:sp>
      <p:sp>
        <p:nvSpPr>
          <p:cNvPr id="139" name="Google Shape;13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40" name="Google Shape;140;p29"/>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41" name="Google Shape;141;p29"/>
          <p:cNvSpPr txBox="1"/>
          <p:nvPr/>
        </p:nvSpPr>
        <p:spPr>
          <a:xfrm>
            <a:off x="5568342" y="1232053"/>
            <a:ext cx="3527100" cy="448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sz="1600">
              <a:solidFill>
                <a:schemeClr val="dk1"/>
              </a:solidFill>
              <a:latin typeface="Ubuntu"/>
              <a:ea typeface="Ubuntu"/>
              <a:cs typeface="Ubuntu"/>
              <a:sym typeface="Ubuntu"/>
            </a:endParaRPr>
          </a:p>
          <a:p>
            <a:pPr indent="-317500" lvl="0" marL="457200" rtl="0" algn="l">
              <a:lnSpc>
                <a:spcPct val="150000"/>
              </a:lnSpc>
              <a:spcBef>
                <a:spcPts val="1700"/>
              </a:spcBef>
              <a:spcAft>
                <a:spcPts val="0"/>
              </a:spcAft>
              <a:buClr>
                <a:schemeClr val="dk1"/>
              </a:buClr>
              <a:buSzPts val="1400"/>
              <a:buFont typeface="Ubuntu"/>
              <a:buChar char="●"/>
            </a:pPr>
            <a:r>
              <a:rPr lang="fr">
                <a:solidFill>
                  <a:schemeClr val="dk1"/>
                </a:solidFill>
                <a:latin typeface="Ubuntu"/>
                <a:ea typeface="Ubuntu"/>
                <a:cs typeface="Ubuntu"/>
                <a:sym typeface="Ubuntu"/>
              </a:rPr>
              <a:t>Smokers show </a:t>
            </a:r>
            <a:r>
              <a:rPr b="1" lang="fr">
                <a:solidFill>
                  <a:srgbClr val="F4CCCC"/>
                </a:solidFill>
                <a:latin typeface="Ubuntu"/>
                <a:ea typeface="Ubuntu"/>
                <a:cs typeface="Ubuntu"/>
                <a:sym typeface="Ubuntu"/>
              </a:rPr>
              <a:t>higher </a:t>
            </a:r>
            <a:r>
              <a:rPr lang="fr">
                <a:solidFill>
                  <a:schemeClr val="dk1"/>
                </a:solidFill>
                <a:latin typeface="Ubuntu"/>
                <a:ea typeface="Ubuntu"/>
                <a:cs typeface="Ubuntu"/>
                <a:sym typeface="Ubuntu"/>
              </a:rPr>
              <a:t>and more variable insurance charges.</a:t>
            </a:r>
            <a:endParaRPr>
              <a:solidFill>
                <a:schemeClr val="dk1"/>
              </a:solidFill>
              <a:latin typeface="Ubuntu"/>
              <a:ea typeface="Ubuntu"/>
              <a:cs typeface="Ubuntu"/>
              <a:sym typeface="Ubuntu"/>
            </a:endParaRPr>
          </a:p>
          <a:p>
            <a:pPr indent="-317500" lvl="0" marL="457200" rtl="0" algn="l">
              <a:lnSpc>
                <a:spcPct val="150000"/>
              </a:lnSpc>
              <a:spcBef>
                <a:spcPts val="0"/>
              </a:spcBef>
              <a:spcAft>
                <a:spcPts val="0"/>
              </a:spcAft>
              <a:buClr>
                <a:schemeClr val="dk1"/>
              </a:buClr>
              <a:buSzPts val="1400"/>
              <a:buFont typeface="Ubuntu"/>
              <a:buChar char="●"/>
            </a:pPr>
            <a:r>
              <a:rPr lang="fr">
                <a:solidFill>
                  <a:schemeClr val="dk1"/>
                </a:solidFill>
                <a:latin typeface="Ubuntu"/>
                <a:ea typeface="Ubuntu"/>
                <a:cs typeface="Ubuntu"/>
                <a:sym typeface="Ubuntu"/>
              </a:rPr>
              <a:t>Non-smokers have a lower and tighter distribution.</a:t>
            </a:r>
            <a:endParaRPr>
              <a:solidFill>
                <a:schemeClr val="dk1"/>
              </a:solidFill>
              <a:latin typeface="Ubuntu"/>
              <a:ea typeface="Ubuntu"/>
              <a:cs typeface="Ubuntu"/>
              <a:sym typeface="Ubuntu"/>
            </a:endParaRPr>
          </a:p>
          <a:p>
            <a:pPr indent="-317500" lvl="0" marL="457200" rtl="0" algn="l">
              <a:lnSpc>
                <a:spcPct val="150000"/>
              </a:lnSpc>
              <a:spcBef>
                <a:spcPts val="0"/>
              </a:spcBef>
              <a:spcAft>
                <a:spcPts val="0"/>
              </a:spcAft>
              <a:buClr>
                <a:schemeClr val="dk1"/>
              </a:buClr>
              <a:buSzPts val="1400"/>
              <a:buFont typeface="Ubuntu"/>
              <a:buChar char="●"/>
            </a:pPr>
            <a:r>
              <a:rPr lang="fr">
                <a:solidFill>
                  <a:schemeClr val="dk1"/>
                </a:solidFill>
                <a:latin typeface="Ubuntu"/>
                <a:ea typeface="Ubuntu"/>
                <a:cs typeface="Ubuntu"/>
                <a:sym typeface="Ubuntu"/>
              </a:rPr>
              <a:t>These differences reflect </a:t>
            </a:r>
            <a:r>
              <a:rPr b="1" lang="fr">
                <a:solidFill>
                  <a:srgbClr val="F4CCCC"/>
                </a:solidFill>
                <a:latin typeface="Ubuntu"/>
                <a:ea typeface="Ubuntu"/>
                <a:cs typeface="Ubuntu"/>
                <a:sym typeface="Ubuntu"/>
              </a:rPr>
              <a:t>true medical risk, not model bias.</a:t>
            </a:r>
            <a:endParaRPr b="1">
              <a:solidFill>
                <a:srgbClr val="F4CCCC"/>
              </a:solidFill>
              <a:latin typeface="Ubuntu"/>
              <a:ea typeface="Ubuntu"/>
              <a:cs typeface="Ubuntu"/>
              <a:sym typeface="Ubuntu"/>
            </a:endParaRPr>
          </a:p>
          <a:p>
            <a:pPr indent="-317500" lvl="0" marL="457200" rtl="0" algn="l">
              <a:lnSpc>
                <a:spcPct val="150000"/>
              </a:lnSpc>
              <a:spcBef>
                <a:spcPts val="0"/>
              </a:spcBef>
              <a:spcAft>
                <a:spcPts val="0"/>
              </a:spcAft>
              <a:buClr>
                <a:schemeClr val="dk1"/>
              </a:buClr>
              <a:buSzPts val="1400"/>
              <a:buFont typeface="Ubuntu"/>
              <a:buChar char="●"/>
            </a:pPr>
            <a:r>
              <a:rPr lang="fr">
                <a:solidFill>
                  <a:schemeClr val="dk1"/>
                </a:solidFill>
                <a:latin typeface="Ubuntu"/>
                <a:ea typeface="Ubuntu"/>
                <a:cs typeface="Ubuntu"/>
                <a:sym typeface="Ubuntu"/>
              </a:rPr>
              <a:t>Establishes </a:t>
            </a:r>
            <a:r>
              <a:rPr b="1" i="1" lang="fr">
                <a:solidFill>
                  <a:srgbClr val="F4CCCC"/>
                </a:solidFill>
                <a:latin typeface="Ubuntu"/>
                <a:ea typeface="Ubuntu"/>
                <a:cs typeface="Ubuntu"/>
                <a:sym typeface="Ubuntu"/>
              </a:rPr>
              <a:t>the baseline</a:t>
            </a:r>
            <a:r>
              <a:rPr b="1" lang="fr">
                <a:solidFill>
                  <a:srgbClr val="F4CCCC"/>
                </a:solidFill>
                <a:latin typeface="Ubuntu"/>
                <a:ea typeface="Ubuntu"/>
                <a:cs typeface="Ubuntu"/>
                <a:sym typeface="Ubuntu"/>
              </a:rPr>
              <a:t> for fairness evaluation.</a:t>
            </a:r>
            <a:br>
              <a:rPr b="1" lang="fr">
                <a:solidFill>
                  <a:srgbClr val="F4CCCC"/>
                </a:solidFill>
                <a:latin typeface="Ubuntu"/>
                <a:ea typeface="Ubuntu"/>
                <a:cs typeface="Ubuntu"/>
                <a:sym typeface="Ubuntu"/>
              </a:rPr>
            </a:br>
            <a:endParaRPr b="1">
              <a:solidFill>
                <a:srgbClr val="F4CCCC"/>
              </a:solidFill>
              <a:latin typeface="Ubuntu"/>
              <a:ea typeface="Ubuntu"/>
              <a:cs typeface="Ubuntu"/>
              <a:sym typeface="Ubuntu"/>
            </a:endParaRPr>
          </a:p>
          <a:p>
            <a:pPr indent="0" lvl="0" marL="0" rtl="0" algn="l">
              <a:lnSpc>
                <a:spcPct val="115000"/>
              </a:lnSpc>
              <a:spcBef>
                <a:spcPts val="1700"/>
              </a:spcBef>
              <a:spcAft>
                <a:spcPts val="0"/>
              </a:spcAft>
              <a:buNone/>
            </a:pPr>
            <a:br>
              <a:rPr lang="fr" sz="1000">
                <a:solidFill>
                  <a:schemeClr val="dk1"/>
                </a:solidFill>
                <a:latin typeface="Ubuntu"/>
                <a:ea typeface="Ubuntu"/>
                <a:cs typeface="Ubuntu"/>
                <a:sym typeface="Ubuntu"/>
              </a:rPr>
            </a:br>
            <a:endParaRPr sz="1000">
              <a:solidFill>
                <a:schemeClr val="dk1"/>
              </a:solidFill>
              <a:latin typeface="Ubuntu"/>
              <a:ea typeface="Ubuntu"/>
              <a:cs typeface="Ubuntu"/>
              <a:sym typeface="Ubuntu"/>
            </a:endParaRPr>
          </a:p>
          <a:p>
            <a:pPr indent="0" lvl="0" marL="0" rtl="0" algn="l">
              <a:spcBef>
                <a:spcPts val="400"/>
              </a:spcBef>
              <a:spcAft>
                <a:spcPts val="0"/>
              </a:spcAft>
              <a:buNone/>
            </a:pPr>
            <a:r>
              <a:t/>
            </a:r>
            <a:endParaRPr sz="1700">
              <a:solidFill>
                <a:schemeClr val="dk1"/>
              </a:solidFill>
              <a:latin typeface="Ubuntu"/>
              <a:ea typeface="Ubuntu"/>
              <a:cs typeface="Ubuntu"/>
              <a:sym typeface="Ubuntu"/>
            </a:endParaRPr>
          </a:p>
        </p:txBody>
      </p:sp>
      <p:pic>
        <p:nvPicPr>
          <p:cNvPr id="142" name="Google Shape;142;p29"/>
          <p:cNvPicPr preferRelativeResize="0"/>
          <p:nvPr/>
        </p:nvPicPr>
        <p:blipFill>
          <a:blip r:embed="rId3">
            <a:alphaModFix/>
          </a:blip>
          <a:stretch>
            <a:fillRect/>
          </a:stretch>
        </p:blipFill>
        <p:spPr>
          <a:xfrm>
            <a:off x="577150" y="1084388"/>
            <a:ext cx="4856600" cy="3413087"/>
          </a:xfrm>
          <a:prstGeom prst="rect">
            <a:avLst/>
          </a:prstGeom>
          <a:noFill/>
          <a:ln>
            <a:noFill/>
          </a:ln>
        </p:spPr>
      </p:pic>
      <p:sp>
        <p:nvSpPr>
          <p:cNvPr id="143" name="Google Shape;143;p29"/>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chemeClr val="dk1"/>
                </a:solidFill>
                <a:latin typeface="Ubuntu"/>
                <a:ea typeface="Ubuntu"/>
                <a:cs typeface="Ubuntu"/>
                <a:sym typeface="Ubuntu"/>
              </a:rPr>
              <a:t>Part 1 - </a:t>
            </a:r>
            <a:r>
              <a:rPr b="0" i="1" lang="fr" sz="700" u="none" cap="none" strike="noStrike">
                <a:solidFill>
                  <a:schemeClr val="dk1"/>
                </a:solidFill>
                <a:latin typeface="Ubuntu"/>
                <a:ea typeface="Ubuntu"/>
                <a:cs typeface="Ubuntu"/>
                <a:sym typeface="Ubuntu"/>
              </a:rPr>
              <a:t>Data Preparation </a:t>
            </a:r>
            <a:r>
              <a:rPr i="1" lang="fr" sz="700">
                <a:solidFill>
                  <a:schemeClr val="dk1"/>
                </a:solidFill>
                <a:latin typeface="Ubuntu"/>
                <a:ea typeface="Ubuntu"/>
                <a:cs typeface="Ubuntu"/>
                <a:sym typeface="Ubuntu"/>
              </a:rPr>
              <a:t>&amp; Exploration</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144" name="Google Shape;144;p29"/>
          <p:cNvSpPr txBox="1"/>
          <p:nvPr/>
        </p:nvSpPr>
        <p:spPr>
          <a:xfrm>
            <a:off x="5476875" y="1017725"/>
            <a:ext cx="3667200" cy="6315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lang="fr" sz="1350">
                <a:solidFill>
                  <a:schemeClr val="dk1"/>
                </a:solidFill>
                <a:latin typeface="Ubuntu"/>
                <a:ea typeface="Ubuntu"/>
                <a:cs typeface="Ubuntu"/>
                <a:sym typeface="Ubuntu"/>
              </a:rPr>
              <a:t>“Before training any model, smokers already have </a:t>
            </a:r>
            <a:r>
              <a:rPr b="1" lang="fr" sz="1350">
                <a:solidFill>
                  <a:schemeClr val="dk1"/>
                </a:solidFill>
                <a:latin typeface="Ubuntu"/>
                <a:ea typeface="Ubuntu"/>
                <a:cs typeface="Ubuntu"/>
                <a:sym typeface="Ubuntu"/>
              </a:rPr>
              <a:t>significantly higher costs</a:t>
            </a:r>
            <a:r>
              <a:rPr lang="fr" sz="1350">
                <a:solidFill>
                  <a:schemeClr val="dk1"/>
                </a:solidFill>
                <a:latin typeface="Ubuntu"/>
                <a:ea typeface="Ubuntu"/>
                <a:cs typeface="Ubuntu"/>
                <a:sym typeface="Ubuntu"/>
              </a:rPr>
              <a:t> ”</a:t>
            </a:r>
            <a:endParaRPr sz="2100">
              <a:solidFill>
                <a:schemeClr val="dk1"/>
              </a:solidFill>
              <a:latin typeface="Ubuntu"/>
              <a:ea typeface="Ubuntu"/>
              <a:cs typeface="Ubuntu"/>
              <a:sym typeface="Ubuntu"/>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Machine Learning Models </a:t>
            </a:r>
            <a:endParaRPr/>
          </a:p>
        </p:txBody>
      </p:sp>
      <p:sp>
        <p:nvSpPr>
          <p:cNvPr id="150" name="Google Shape;15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51" name="Google Shape;151;p30"/>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52" name="Google Shape;152;p30"/>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153" name="Google Shape;153;p30"/>
          <p:cNvSpPr txBox="1"/>
          <p:nvPr/>
        </p:nvSpPr>
        <p:spPr>
          <a:xfrm>
            <a:off x="385750" y="1592900"/>
            <a:ext cx="26766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br>
              <a:rPr b="0" i="0" lang="fr" sz="1400" u="none" cap="none" strike="noStrike">
                <a:solidFill>
                  <a:schemeClr val="dk1"/>
                </a:solidFill>
                <a:latin typeface="Ubuntu"/>
                <a:ea typeface="Ubuntu"/>
                <a:cs typeface="Ubuntu"/>
                <a:sym typeface="Ubuntu"/>
              </a:rPr>
            </a:br>
            <a:r>
              <a:rPr b="1" i="0" lang="fr" sz="1400" u="none" cap="none" strike="noStrike">
                <a:solidFill>
                  <a:schemeClr val="dk1"/>
                </a:solidFill>
                <a:latin typeface="Ubuntu"/>
                <a:ea typeface="Ubuntu"/>
                <a:cs typeface="Ubuntu"/>
                <a:sym typeface="Ubuntu"/>
              </a:rPr>
              <a:t>Model trained : </a:t>
            </a:r>
            <a:endParaRPr b="1" i="0" sz="1400" u="none" cap="none" strike="noStrike">
              <a:solidFill>
                <a:schemeClr val="dk1"/>
              </a:solidFill>
              <a:latin typeface="Ubuntu"/>
              <a:ea typeface="Ubuntu"/>
              <a:cs typeface="Ubuntu"/>
              <a:sym typeface="Ubuntu"/>
            </a:endParaRPr>
          </a:p>
          <a:p>
            <a:pPr indent="0" lvl="0" marL="0" marR="0" rtl="0" algn="l">
              <a:lnSpc>
                <a:spcPct val="100000"/>
              </a:lnSpc>
              <a:spcBef>
                <a:spcPts val="0"/>
              </a:spcBef>
              <a:spcAft>
                <a:spcPts val="0"/>
              </a:spcAft>
              <a:buNone/>
            </a:pPr>
            <a:r>
              <a:t/>
            </a:r>
            <a:endParaRPr b="1">
              <a:solidFill>
                <a:schemeClr val="dk1"/>
              </a:solidFill>
              <a:latin typeface="Ubuntu"/>
              <a:ea typeface="Ubuntu"/>
              <a:cs typeface="Ubuntu"/>
              <a:sym typeface="Ubuntu"/>
            </a:endParaRPr>
          </a:p>
          <a:p>
            <a:pPr indent="0" lvl="0" marL="0" marR="0" rtl="0" algn="l">
              <a:lnSpc>
                <a:spcPct val="150000"/>
              </a:lnSpc>
              <a:spcBef>
                <a:spcPts val="0"/>
              </a:spcBef>
              <a:spcAft>
                <a:spcPts val="0"/>
              </a:spcAft>
              <a:buNone/>
            </a:pPr>
            <a:r>
              <a:rPr b="0" i="0" lang="fr" sz="1400" u="none" cap="none" strike="noStrike">
                <a:solidFill>
                  <a:schemeClr val="dk1"/>
                </a:solidFill>
                <a:latin typeface="Ubuntu"/>
                <a:ea typeface="Ubuntu"/>
                <a:cs typeface="Ubuntu"/>
                <a:sym typeface="Ubuntu"/>
              </a:rPr>
              <a:t>• Linear Regression</a:t>
            </a:r>
            <a:endParaRPr/>
          </a:p>
          <a:p>
            <a:pPr indent="0" lvl="0" marL="0" marR="0" rtl="0" algn="l">
              <a:lnSpc>
                <a:spcPct val="150000"/>
              </a:lnSpc>
              <a:spcBef>
                <a:spcPts val="0"/>
              </a:spcBef>
              <a:spcAft>
                <a:spcPts val="0"/>
              </a:spcAft>
              <a:buNone/>
            </a:pPr>
            <a:r>
              <a:rPr b="0" i="0" lang="fr" sz="1400" u="none" cap="none" strike="noStrike">
                <a:solidFill>
                  <a:schemeClr val="dk1"/>
                </a:solidFill>
                <a:latin typeface="Ubuntu"/>
                <a:ea typeface="Ubuntu"/>
                <a:cs typeface="Ubuntu"/>
                <a:sym typeface="Ubuntu"/>
              </a:rPr>
              <a:t>• Elastic Net Regression</a:t>
            </a:r>
            <a:endParaRPr/>
          </a:p>
          <a:p>
            <a:pPr indent="0" lvl="0" marL="0" marR="0" rtl="0" algn="l">
              <a:lnSpc>
                <a:spcPct val="150000"/>
              </a:lnSpc>
              <a:spcBef>
                <a:spcPts val="0"/>
              </a:spcBef>
              <a:spcAft>
                <a:spcPts val="0"/>
              </a:spcAft>
              <a:buNone/>
            </a:pPr>
            <a:r>
              <a:rPr b="0" i="0" lang="fr" sz="1400" u="none" cap="none" strike="noStrike">
                <a:solidFill>
                  <a:schemeClr val="dk1"/>
                </a:solidFill>
                <a:latin typeface="Ubuntu"/>
                <a:ea typeface="Ubuntu"/>
                <a:cs typeface="Ubuntu"/>
                <a:sym typeface="Ubuntu"/>
              </a:rPr>
              <a:t>• Gradient Boosting (HistGB)</a:t>
            </a:r>
            <a:endParaRPr/>
          </a:p>
          <a:p>
            <a:pPr indent="0" lvl="0" marL="0" marR="0" rtl="0" algn="l">
              <a:lnSpc>
                <a:spcPct val="150000"/>
              </a:lnSpc>
              <a:spcBef>
                <a:spcPts val="0"/>
              </a:spcBef>
              <a:spcAft>
                <a:spcPts val="0"/>
              </a:spcAft>
              <a:buNone/>
            </a:pPr>
            <a:r>
              <a:rPr b="0" i="0" lang="fr" sz="1400" u="none" cap="none" strike="noStrike">
                <a:solidFill>
                  <a:schemeClr val="dk1"/>
                </a:solidFill>
                <a:latin typeface="Ubuntu"/>
                <a:ea typeface="Ubuntu"/>
                <a:cs typeface="Ubuntu"/>
                <a:sym typeface="Ubuntu"/>
              </a:rPr>
              <a:t>• MLP Neural Network</a:t>
            </a:r>
            <a:endParaRPr/>
          </a:p>
          <a:p>
            <a:pPr indent="0" lvl="0" marL="0" marR="0" rtl="0" algn="l">
              <a:lnSpc>
                <a:spcPct val="150000"/>
              </a:lnSpc>
              <a:spcBef>
                <a:spcPts val="0"/>
              </a:spcBef>
              <a:spcAft>
                <a:spcPts val="0"/>
              </a:spcAft>
              <a:buNone/>
            </a:pPr>
            <a:r>
              <a:rPr b="0" i="0" lang="fr" sz="1400" u="none" cap="none" strike="noStrike">
                <a:solidFill>
                  <a:schemeClr val="dk1"/>
                </a:solidFill>
                <a:latin typeface="Ubuntu"/>
                <a:ea typeface="Ubuntu"/>
                <a:cs typeface="Ubuntu"/>
                <a:sym typeface="Ubuntu"/>
              </a:rPr>
              <a:t>• GLM (Gamma-log)</a:t>
            </a:r>
            <a:endParaRPr b="0" i="0" sz="1400" u="none" cap="none" strike="noStrike">
              <a:solidFill>
                <a:schemeClr val="dk1"/>
              </a:solidFill>
              <a:latin typeface="Ubuntu"/>
              <a:ea typeface="Ubuntu"/>
              <a:cs typeface="Ubuntu"/>
              <a:sym typeface="Ubuntu"/>
            </a:endParaRPr>
          </a:p>
        </p:txBody>
      </p:sp>
      <p:sp>
        <p:nvSpPr>
          <p:cNvPr id="154" name="Google Shape;154;p30"/>
          <p:cNvSpPr txBox="1"/>
          <p:nvPr/>
        </p:nvSpPr>
        <p:spPr>
          <a:xfrm>
            <a:off x="2835975" y="1738200"/>
            <a:ext cx="6185100" cy="16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300">
                <a:solidFill>
                  <a:schemeClr val="dk1"/>
                </a:solidFill>
                <a:latin typeface="Ubuntu"/>
                <a:ea typeface="Ubuntu"/>
                <a:cs typeface="Ubuntu"/>
                <a:sym typeface="Ubuntu"/>
              </a:rPr>
              <a:t>Evaluation metrics :</a:t>
            </a:r>
            <a:endParaRPr b="1" sz="1300">
              <a:solidFill>
                <a:schemeClr val="dk1"/>
              </a:solidFill>
              <a:latin typeface="Ubuntu"/>
              <a:ea typeface="Ubuntu"/>
              <a:cs typeface="Ubuntu"/>
              <a:sym typeface="Ubuntu"/>
            </a:endParaRPr>
          </a:p>
          <a:p>
            <a:pPr indent="0" lvl="0" marL="0" rtl="0" algn="l">
              <a:spcBef>
                <a:spcPts val="0"/>
              </a:spcBef>
              <a:spcAft>
                <a:spcPts val="0"/>
              </a:spcAft>
              <a:buClr>
                <a:srgbClr val="000000"/>
              </a:buClr>
              <a:buFont typeface="Arial"/>
              <a:buNone/>
            </a:pPr>
            <a:r>
              <a:t/>
            </a:r>
            <a:endParaRPr sz="1300">
              <a:solidFill>
                <a:schemeClr val="dk1"/>
              </a:solidFill>
              <a:latin typeface="Ubuntu"/>
              <a:ea typeface="Ubuntu"/>
              <a:cs typeface="Ubuntu"/>
              <a:sym typeface="Ubuntu"/>
            </a:endParaRPr>
          </a:p>
          <a:p>
            <a:pPr indent="-279400" lvl="0" marL="285750" rtl="0" algn="l">
              <a:lnSpc>
                <a:spcPct val="150000"/>
              </a:lnSpc>
              <a:spcBef>
                <a:spcPts val="0"/>
              </a:spcBef>
              <a:spcAft>
                <a:spcPts val="0"/>
              </a:spcAft>
              <a:buClr>
                <a:schemeClr val="dk1"/>
              </a:buClr>
              <a:buSzPts val="1300"/>
              <a:buFont typeface="Ubuntu"/>
              <a:buChar char="•"/>
            </a:pPr>
            <a:r>
              <a:rPr b="1" lang="fr" sz="1300">
                <a:solidFill>
                  <a:schemeClr val="dk1"/>
                </a:solidFill>
                <a:latin typeface="Ubuntu"/>
                <a:ea typeface="Ubuntu"/>
                <a:cs typeface="Ubuntu"/>
                <a:sym typeface="Ubuntu"/>
              </a:rPr>
              <a:t>R² :</a:t>
            </a:r>
            <a:r>
              <a:rPr lang="fr" sz="1300">
                <a:solidFill>
                  <a:schemeClr val="dk1"/>
                </a:solidFill>
                <a:latin typeface="Ubuntu"/>
                <a:ea typeface="Ubuntu"/>
                <a:cs typeface="Ubuntu"/>
                <a:sym typeface="Ubuntu"/>
              </a:rPr>
              <a:t> </a:t>
            </a:r>
            <a:r>
              <a:rPr i="1" lang="fr" sz="1300">
                <a:solidFill>
                  <a:schemeClr val="dk1"/>
                </a:solidFill>
                <a:latin typeface="Ubuntu"/>
                <a:ea typeface="Ubuntu"/>
                <a:cs typeface="Ubuntu"/>
                <a:sym typeface="Ubuntu"/>
              </a:rPr>
              <a:t>How well does the model explain differences in insurance costs across individuals ?</a:t>
            </a:r>
            <a:endParaRPr sz="1300">
              <a:solidFill>
                <a:schemeClr val="dk1"/>
              </a:solidFill>
              <a:latin typeface="Ubuntu"/>
              <a:ea typeface="Ubuntu"/>
              <a:cs typeface="Ubuntu"/>
              <a:sym typeface="Ubuntu"/>
            </a:endParaRPr>
          </a:p>
          <a:p>
            <a:pPr indent="-279400" lvl="0" marL="285750" rtl="0" algn="l">
              <a:lnSpc>
                <a:spcPct val="150000"/>
              </a:lnSpc>
              <a:spcBef>
                <a:spcPts val="0"/>
              </a:spcBef>
              <a:spcAft>
                <a:spcPts val="0"/>
              </a:spcAft>
              <a:buClr>
                <a:schemeClr val="dk1"/>
              </a:buClr>
              <a:buSzPts val="1300"/>
              <a:buChar char="•"/>
            </a:pPr>
            <a:r>
              <a:rPr b="1" lang="fr" sz="1300">
                <a:solidFill>
                  <a:schemeClr val="dk1"/>
                </a:solidFill>
                <a:latin typeface="Ubuntu"/>
                <a:ea typeface="Ubuntu"/>
                <a:cs typeface="Ubuntu"/>
                <a:sym typeface="Ubuntu"/>
              </a:rPr>
              <a:t>MAE : </a:t>
            </a:r>
            <a:r>
              <a:rPr i="1" lang="fr" sz="1300">
                <a:solidFill>
                  <a:schemeClr val="dk1"/>
                </a:solidFill>
                <a:latin typeface="Ubuntu"/>
                <a:ea typeface="Ubuntu"/>
                <a:cs typeface="Ubuntu"/>
                <a:sym typeface="Ubuntu"/>
              </a:rPr>
              <a:t>On average, how many CHF does the model miss by per individual?</a:t>
            </a:r>
            <a:endParaRPr sz="1300">
              <a:solidFill>
                <a:schemeClr val="dk1"/>
              </a:solidFill>
              <a:latin typeface="Ubuntu"/>
              <a:ea typeface="Ubuntu"/>
              <a:cs typeface="Ubuntu"/>
              <a:sym typeface="Ubuntu"/>
            </a:endParaRPr>
          </a:p>
          <a:p>
            <a:pPr indent="-279400" lvl="0" marL="285750" rtl="0" algn="l">
              <a:lnSpc>
                <a:spcPct val="150000"/>
              </a:lnSpc>
              <a:spcBef>
                <a:spcPts val="0"/>
              </a:spcBef>
              <a:spcAft>
                <a:spcPts val="0"/>
              </a:spcAft>
              <a:buClr>
                <a:schemeClr val="dk1"/>
              </a:buClr>
              <a:buSzPts val="1300"/>
              <a:buChar char="•"/>
            </a:pPr>
            <a:r>
              <a:rPr b="1" lang="fr" sz="1300">
                <a:solidFill>
                  <a:schemeClr val="dk1"/>
                </a:solidFill>
                <a:latin typeface="Ubuntu"/>
                <a:ea typeface="Ubuntu"/>
                <a:cs typeface="Ubuntu"/>
                <a:sym typeface="Ubuntu"/>
              </a:rPr>
              <a:t>RMSE :</a:t>
            </a:r>
            <a:r>
              <a:rPr lang="fr" sz="1300">
                <a:solidFill>
                  <a:schemeClr val="dk1"/>
                </a:solidFill>
                <a:latin typeface="Ubuntu"/>
                <a:ea typeface="Ubuntu"/>
                <a:cs typeface="Ubuntu"/>
                <a:sym typeface="Ubuntu"/>
              </a:rPr>
              <a:t> </a:t>
            </a:r>
            <a:r>
              <a:rPr i="1" lang="fr" sz="1300">
                <a:solidFill>
                  <a:schemeClr val="dk1"/>
                </a:solidFill>
                <a:latin typeface="Ubuntu"/>
                <a:ea typeface="Ubuntu"/>
                <a:cs typeface="Ubuntu"/>
                <a:sym typeface="Ubuntu"/>
              </a:rPr>
              <a:t>How large are the model’s biggest mistakes?</a:t>
            </a:r>
            <a:endParaRPr sz="1300">
              <a:solidFill>
                <a:schemeClr val="dk1"/>
              </a:solidFill>
              <a:latin typeface="Ubuntu"/>
              <a:ea typeface="Ubuntu"/>
              <a:cs typeface="Ubuntu"/>
              <a:sym typeface="Ubuntu"/>
            </a:endParaRPr>
          </a:p>
        </p:txBody>
      </p:sp>
      <p:sp>
        <p:nvSpPr>
          <p:cNvPr id="155" name="Google Shape;155;p30"/>
          <p:cNvSpPr txBox="1"/>
          <p:nvPr/>
        </p:nvSpPr>
        <p:spPr>
          <a:xfrm>
            <a:off x="311700" y="1109419"/>
            <a:ext cx="5933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Font typeface="Arial"/>
              <a:buNone/>
            </a:pPr>
            <a:r>
              <a:rPr lang="fr">
                <a:solidFill>
                  <a:schemeClr val="dk1"/>
                </a:solidFill>
                <a:latin typeface="Ubuntu"/>
                <a:ea typeface="Ubuntu"/>
                <a:cs typeface="Ubuntu"/>
                <a:sym typeface="Ubuntu"/>
              </a:rPr>
              <a:t>We trained several regression models to predict insurance charges. </a:t>
            </a:r>
            <a:endParaRPr/>
          </a:p>
          <a:p>
            <a:pPr indent="0" lvl="0" marL="0" rtl="0" algn="l">
              <a:spcBef>
                <a:spcPts val="0"/>
              </a:spcBef>
              <a:spcAft>
                <a:spcPts val="0"/>
              </a:spcAft>
              <a:buNone/>
            </a:pPr>
            <a:r>
              <a:t/>
            </a:r>
            <a:endParaRPr sz="1800">
              <a:solidFill>
                <a:schemeClr val="lt2"/>
              </a:solidFill>
            </a:endParaRPr>
          </a:p>
        </p:txBody>
      </p:sp>
      <p:sp>
        <p:nvSpPr>
          <p:cNvPr id="156" name="Google Shape;156;p30"/>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Performance Comparison</a:t>
            </a:r>
            <a:endParaRPr/>
          </a:p>
        </p:txBody>
      </p:sp>
      <p:sp>
        <p:nvSpPr>
          <p:cNvPr id="162" name="Google Shape;16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63" name="Google Shape;163;p31"/>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64" name="Google Shape;164;p31"/>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pic>
        <p:nvPicPr>
          <p:cNvPr id="165" name="Google Shape;165;p31"/>
          <p:cNvPicPr preferRelativeResize="0"/>
          <p:nvPr/>
        </p:nvPicPr>
        <p:blipFill>
          <a:blip r:embed="rId3">
            <a:alphaModFix/>
          </a:blip>
          <a:stretch>
            <a:fillRect/>
          </a:stretch>
        </p:blipFill>
        <p:spPr>
          <a:xfrm>
            <a:off x="707700" y="992425"/>
            <a:ext cx="7707595" cy="3052012"/>
          </a:xfrm>
          <a:prstGeom prst="rect">
            <a:avLst/>
          </a:prstGeom>
          <a:noFill/>
          <a:ln>
            <a:noFill/>
          </a:ln>
        </p:spPr>
      </p:pic>
      <p:sp>
        <p:nvSpPr>
          <p:cNvPr id="166" name="Google Shape;166;p31"/>
          <p:cNvSpPr txBox="1"/>
          <p:nvPr/>
        </p:nvSpPr>
        <p:spPr>
          <a:xfrm>
            <a:off x="707700" y="4133850"/>
            <a:ext cx="51627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700">
                <a:solidFill>
                  <a:schemeClr val="dk1"/>
                </a:solidFill>
                <a:latin typeface="Ubuntu"/>
                <a:ea typeface="Ubuntu"/>
                <a:cs typeface="Ubuntu"/>
                <a:sym typeface="Ubuntu"/>
              </a:rPr>
              <a:t>→ Best model by RMSE : </a:t>
            </a:r>
            <a:r>
              <a:rPr b="1" lang="fr" sz="1700">
                <a:solidFill>
                  <a:srgbClr val="F4CCCC"/>
                </a:solidFill>
                <a:latin typeface="Ubuntu"/>
                <a:ea typeface="Ubuntu"/>
                <a:cs typeface="Ubuntu"/>
                <a:sym typeface="Ubuntu"/>
              </a:rPr>
              <a:t>Linear Regression</a:t>
            </a:r>
            <a:endParaRPr b="1" sz="1700">
              <a:solidFill>
                <a:srgbClr val="F4CCCC"/>
              </a:solidFill>
              <a:latin typeface="Ubuntu"/>
              <a:ea typeface="Ubuntu"/>
              <a:cs typeface="Ubuntu"/>
              <a:sym typeface="Ubuntu"/>
            </a:endParaRPr>
          </a:p>
          <a:p>
            <a:pPr indent="0" lvl="0" marL="0" rtl="0" algn="l">
              <a:spcBef>
                <a:spcPts val="0"/>
              </a:spcBef>
              <a:spcAft>
                <a:spcPts val="0"/>
              </a:spcAft>
              <a:buNone/>
            </a:pPr>
            <a:r>
              <a:t/>
            </a:r>
            <a:endParaRPr sz="1800">
              <a:solidFill>
                <a:schemeClr val="lt2"/>
              </a:solidFill>
            </a:endParaRPr>
          </a:p>
        </p:txBody>
      </p:sp>
      <p:sp>
        <p:nvSpPr>
          <p:cNvPr id="167" name="Google Shape;167;p31"/>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3 - Fairness Analysis (Smokers vs Non-Smokers)</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fr">
                <a:latin typeface="Ubuntu"/>
                <a:ea typeface="Ubuntu"/>
                <a:cs typeface="Ubuntu"/>
                <a:sym typeface="Ubuntu"/>
              </a:rPr>
              <a:t>Fairness evaluation Framework</a:t>
            </a:r>
            <a:endParaRPr/>
          </a:p>
        </p:txBody>
      </p:sp>
      <p:sp>
        <p:nvSpPr>
          <p:cNvPr id="173" name="Google Shape;17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74" name="Google Shape;174;p32"/>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75" name="Google Shape;175;p32"/>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176" name="Google Shape;176;p32"/>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177" name="Google Shape;177;p32"/>
          <p:cNvSpPr txBox="1"/>
          <p:nvPr/>
        </p:nvSpPr>
        <p:spPr>
          <a:xfrm>
            <a:off x="311700" y="1170250"/>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latin typeface="Ubuntu"/>
                <a:ea typeface="Ubuntu"/>
                <a:cs typeface="Ubuntu"/>
                <a:sym typeface="Ubuntu"/>
              </a:rPr>
              <a:t>We want to determine : </a:t>
            </a:r>
            <a:r>
              <a:rPr b="1" lang="fr">
                <a:solidFill>
                  <a:schemeClr val="dk1"/>
                </a:solidFill>
                <a:latin typeface="Ubuntu"/>
                <a:ea typeface="Ubuntu"/>
                <a:cs typeface="Ubuntu"/>
                <a:sym typeface="Ubuntu"/>
              </a:rPr>
              <a:t>Does the predictive model treat smokers and non-smokers fairly, or does it introduce additional bias beyond true medical cost differences ?</a:t>
            </a:r>
            <a:endParaRPr b="1">
              <a:solidFill>
                <a:schemeClr val="dk1"/>
              </a:solidFill>
              <a:latin typeface="Ubuntu"/>
              <a:ea typeface="Ubuntu"/>
              <a:cs typeface="Ubuntu"/>
              <a:sym typeface="Ubuntu"/>
            </a:endParaRPr>
          </a:p>
        </p:txBody>
      </p:sp>
      <p:sp>
        <p:nvSpPr>
          <p:cNvPr id="178" name="Google Shape;178;p32"/>
          <p:cNvSpPr txBox="1"/>
          <p:nvPr/>
        </p:nvSpPr>
        <p:spPr>
          <a:xfrm>
            <a:off x="373800" y="1990875"/>
            <a:ext cx="8396400" cy="169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a:solidFill>
                  <a:schemeClr val="dk1"/>
                </a:solidFill>
                <a:latin typeface="Ubuntu"/>
                <a:ea typeface="Ubuntu"/>
                <a:cs typeface="Ubuntu"/>
                <a:sym typeface="Ubuntu"/>
              </a:rPr>
              <a:t>Our fairness evaluation includes :</a:t>
            </a:r>
            <a:endParaRPr>
              <a:solidFill>
                <a:schemeClr val="dk1"/>
              </a:solidFill>
              <a:latin typeface="Ubuntu"/>
              <a:ea typeface="Ubuntu"/>
              <a:cs typeface="Ubuntu"/>
              <a:sym typeface="Ubuntu"/>
            </a:endParaRPr>
          </a:p>
          <a:p>
            <a:pPr indent="-317500" lvl="0" marL="457200" rtl="0" algn="l">
              <a:lnSpc>
                <a:spcPct val="115000"/>
              </a:lnSpc>
              <a:spcBef>
                <a:spcPts val="1200"/>
              </a:spcBef>
              <a:spcAft>
                <a:spcPts val="0"/>
              </a:spcAft>
              <a:buClr>
                <a:schemeClr val="dk1"/>
              </a:buClr>
              <a:buSzPts val="1400"/>
              <a:buAutoNum type="arabicPeriod"/>
            </a:pPr>
            <a:r>
              <a:rPr b="1" lang="fr">
                <a:solidFill>
                  <a:schemeClr val="dk1"/>
                </a:solidFill>
                <a:latin typeface="Ubuntu"/>
                <a:ea typeface="Ubuntu"/>
                <a:cs typeface="Ubuntu"/>
                <a:sym typeface="Ubuntu"/>
              </a:rPr>
              <a:t>Residual-based statistical fairness </a:t>
            </a:r>
            <a:r>
              <a:rPr lang="fr">
                <a:solidFill>
                  <a:schemeClr val="dk1"/>
                </a:solidFill>
                <a:latin typeface="Ubuntu"/>
                <a:ea typeface="Ubuntu"/>
                <a:cs typeface="Ubuntu"/>
                <a:sym typeface="Ubuntu"/>
              </a:rPr>
              <a:t>: Do errors differ between groups ?</a:t>
            </a: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AutoNum type="arabicPeriod"/>
            </a:pPr>
            <a:r>
              <a:rPr b="1" lang="fr">
                <a:solidFill>
                  <a:schemeClr val="dk1"/>
                </a:solidFill>
                <a:latin typeface="Ubuntu"/>
                <a:ea typeface="Ubuntu"/>
                <a:cs typeface="Ubuntu"/>
                <a:sym typeface="Ubuntu"/>
              </a:rPr>
              <a:t>Bootstrap confidence intervals</a:t>
            </a:r>
            <a:r>
              <a:rPr lang="fr">
                <a:solidFill>
                  <a:schemeClr val="dk1"/>
                </a:solidFill>
                <a:latin typeface="Ubuntu"/>
                <a:ea typeface="Ubuntu"/>
                <a:cs typeface="Ubuntu"/>
                <a:sym typeface="Ubuntu"/>
              </a:rPr>
              <a:t> : Are differences statistically significant ?</a:t>
            </a: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AutoNum type="arabicPeriod"/>
            </a:pPr>
            <a:r>
              <a:rPr b="1" lang="fr">
                <a:solidFill>
                  <a:schemeClr val="dk1"/>
                </a:solidFill>
                <a:latin typeface="Ubuntu"/>
                <a:ea typeface="Ubuntu"/>
                <a:cs typeface="Ubuntu"/>
                <a:sym typeface="Ubuntu"/>
              </a:rPr>
              <a:t>Fairness metrics (DP, EO, Eodds) </a:t>
            </a:r>
            <a:r>
              <a:rPr lang="fr">
                <a:solidFill>
                  <a:schemeClr val="dk1"/>
                </a:solidFill>
                <a:latin typeface="Ubuntu"/>
                <a:ea typeface="Ubuntu"/>
                <a:cs typeface="Ubuntu"/>
                <a:sym typeface="Ubuntu"/>
              </a:rPr>
              <a:t>: Adapted from the classification framework of the course.</a:t>
            </a:r>
            <a:endParaRPr>
              <a:solidFill>
                <a:schemeClr val="dk1"/>
              </a:solidFill>
              <a:latin typeface="Ubuntu"/>
              <a:ea typeface="Ubuntu"/>
              <a:cs typeface="Ubuntu"/>
              <a:sym typeface="Ubuntu"/>
            </a:endParaRPr>
          </a:p>
          <a:p>
            <a:pPr indent="0" lvl="0" marL="0" rtl="0" algn="l">
              <a:lnSpc>
                <a:spcPct val="115000"/>
              </a:lnSpc>
              <a:spcBef>
                <a:spcPts val="1200"/>
              </a:spcBef>
              <a:spcAft>
                <a:spcPts val="1200"/>
              </a:spcAft>
              <a:buNone/>
            </a:pPr>
            <a:r>
              <a:rPr lang="fr">
                <a:solidFill>
                  <a:schemeClr val="dk1"/>
                </a:solidFill>
                <a:latin typeface="Ubuntu"/>
                <a:ea typeface="Ubuntu"/>
                <a:cs typeface="Ubuntu"/>
                <a:sym typeface="Ubuntu"/>
              </a:rPr>
              <a:t>Each component provides a </a:t>
            </a:r>
            <a:r>
              <a:rPr b="1" lang="fr">
                <a:solidFill>
                  <a:schemeClr val="dk1"/>
                </a:solidFill>
                <a:latin typeface="Ubuntu"/>
                <a:ea typeface="Ubuntu"/>
                <a:cs typeface="Ubuntu"/>
                <a:sym typeface="Ubuntu"/>
              </a:rPr>
              <a:t>different lens on fairness</a:t>
            </a:r>
            <a:r>
              <a:rPr lang="fr">
                <a:solidFill>
                  <a:schemeClr val="dk1"/>
                </a:solidFill>
                <a:latin typeface="Ubuntu"/>
                <a:ea typeface="Ubuntu"/>
                <a:cs typeface="Ubuntu"/>
                <a:sym typeface="Ubuntu"/>
              </a:rPr>
              <a:t>.</a:t>
            </a:r>
            <a:endParaRPr>
              <a:solidFill>
                <a:schemeClr val="dk1"/>
              </a:solidFill>
              <a:latin typeface="Ubuntu"/>
              <a:ea typeface="Ubuntu"/>
              <a:cs typeface="Ubuntu"/>
              <a:sym typeface="Ubuntu"/>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b="1" lang="fr" sz="2400">
                <a:latin typeface="Ubuntu"/>
                <a:ea typeface="Ubuntu"/>
                <a:cs typeface="Ubuntu"/>
                <a:sym typeface="Ubuntu"/>
              </a:rPr>
              <a:t>Residual-Based Fairness</a:t>
            </a:r>
            <a:endParaRPr b="1" sz="3500">
              <a:latin typeface="Ubuntu"/>
              <a:ea typeface="Ubuntu"/>
              <a:cs typeface="Ubuntu"/>
              <a:sym typeface="Ubuntu"/>
            </a:endParaRPr>
          </a:p>
        </p:txBody>
      </p:sp>
      <p:sp>
        <p:nvSpPr>
          <p:cNvPr id="184" name="Google Shape;18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185" name="Google Shape;185;p33"/>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186" name="Google Shape;186;p33"/>
          <p:cNvSpPr txBox="1"/>
          <p:nvPr/>
        </p:nvSpPr>
        <p:spPr>
          <a:xfrm>
            <a:off x="5244586" y="991748"/>
            <a:ext cx="35271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A model is fair if :</a:t>
            </a:r>
            <a:endParaRPr sz="1200">
              <a:solidFill>
                <a:schemeClr val="dk1"/>
              </a:solidFill>
              <a:latin typeface="Ubuntu"/>
              <a:ea typeface="Ubuntu"/>
              <a:cs typeface="Ubuntu"/>
              <a:sym typeface="Ubuntu"/>
            </a:endParaRPr>
          </a:p>
          <a:p>
            <a:pPr indent="-304800" lvl="0" marL="457200" rtl="0" algn="l">
              <a:lnSpc>
                <a:spcPct val="115000"/>
              </a:lnSpc>
              <a:spcBef>
                <a:spcPts val="1200"/>
              </a:spcBef>
              <a:spcAft>
                <a:spcPts val="0"/>
              </a:spcAft>
              <a:buClr>
                <a:schemeClr val="dk1"/>
              </a:buClr>
              <a:buSzPts val="1200"/>
              <a:buFont typeface="Ubuntu"/>
              <a:buChar char="●"/>
            </a:pPr>
            <a:r>
              <a:rPr lang="fr" sz="1200">
                <a:solidFill>
                  <a:schemeClr val="dk1"/>
                </a:solidFill>
                <a:latin typeface="Ubuntu"/>
                <a:ea typeface="Ubuntu"/>
                <a:cs typeface="Ubuntu"/>
                <a:sym typeface="Ubuntu"/>
              </a:rPr>
              <a:t>both groups have similar average residuals</a:t>
            </a:r>
            <a:endParaRPr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Font typeface="Ubuntu"/>
              <a:buChar char="●"/>
            </a:pPr>
            <a:r>
              <a:rPr lang="fr" sz="1200">
                <a:solidFill>
                  <a:schemeClr val="dk1"/>
                </a:solidFill>
                <a:latin typeface="Ubuntu"/>
                <a:ea typeface="Ubuntu"/>
                <a:cs typeface="Ubuntu"/>
                <a:sym typeface="Ubuntu"/>
              </a:rPr>
              <a:t>error magnitudes (MAE) are comparable</a:t>
            </a:r>
            <a:endParaRPr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Font typeface="Ubuntu"/>
              <a:buChar char="●"/>
            </a:pPr>
            <a:r>
              <a:rPr lang="fr" sz="1200">
                <a:solidFill>
                  <a:schemeClr val="dk1"/>
                </a:solidFill>
                <a:latin typeface="Ubuntu"/>
                <a:ea typeface="Ubuntu"/>
                <a:cs typeface="Ubuntu"/>
                <a:sym typeface="Ubuntu"/>
              </a:rPr>
              <a:t>neither group is systematically underpriced or overpriced</a:t>
            </a:r>
            <a:endParaRPr sz="1500"/>
          </a:p>
        </p:txBody>
      </p:sp>
      <p:pic>
        <p:nvPicPr>
          <p:cNvPr id="187" name="Google Shape;187;p33" title="Screenshot 2025-12-11 at 20.59.24.png"/>
          <p:cNvPicPr preferRelativeResize="0"/>
          <p:nvPr/>
        </p:nvPicPr>
        <p:blipFill>
          <a:blip r:embed="rId3">
            <a:alphaModFix/>
          </a:blip>
          <a:stretch>
            <a:fillRect/>
          </a:stretch>
        </p:blipFill>
        <p:spPr>
          <a:xfrm>
            <a:off x="360588" y="2911788"/>
            <a:ext cx="6334125" cy="1323975"/>
          </a:xfrm>
          <a:prstGeom prst="rect">
            <a:avLst/>
          </a:prstGeom>
          <a:noFill/>
          <a:ln>
            <a:noFill/>
          </a:ln>
        </p:spPr>
      </p:pic>
      <p:sp>
        <p:nvSpPr>
          <p:cNvPr id="188" name="Google Shape;188;p33"/>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189" name="Google Shape;189;p33"/>
          <p:cNvSpPr txBox="1"/>
          <p:nvPr/>
        </p:nvSpPr>
        <p:spPr>
          <a:xfrm>
            <a:off x="311700" y="1026550"/>
            <a:ext cx="5247900" cy="236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We compare smokers and non-smokers on :</a:t>
            </a:r>
            <a:endParaRPr sz="1200">
              <a:solidFill>
                <a:schemeClr val="dk1"/>
              </a:solidFill>
              <a:latin typeface="Ubuntu"/>
              <a:ea typeface="Ubuntu"/>
              <a:cs typeface="Ubuntu"/>
              <a:sym typeface="Ubuntu"/>
            </a:endParaRPr>
          </a:p>
          <a:p>
            <a:pPr indent="-304800" lvl="0" marL="457200" rtl="0" algn="l">
              <a:lnSpc>
                <a:spcPct val="115000"/>
              </a:lnSpc>
              <a:spcBef>
                <a:spcPts val="1200"/>
              </a:spcBef>
              <a:spcAft>
                <a:spcPts val="0"/>
              </a:spcAft>
              <a:buClr>
                <a:schemeClr val="dk1"/>
              </a:buClr>
              <a:buSzPts val="1200"/>
              <a:buChar char="●"/>
            </a:pPr>
            <a:r>
              <a:rPr lang="fr" sz="1200">
                <a:solidFill>
                  <a:schemeClr val="dk1"/>
                </a:solidFill>
                <a:latin typeface="Ubuntu"/>
                <a:ea typeface="Ubuntu"/>
                <a:cs typeface="Ubuntu"/>
                <a:sym typeface="Ubuntu"/>
              </a:rPr>
              <a:t>mean residuals (bias / over- or underpricing)</a:t>
            </a:r>
            <a:endParaRPr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Char char="●"/>
            </a:pPr>
            <a:r>
              <a:rPr lang="fr" sz="1200">
                <a:solidFill>
                  <a:schemeClr val="dk1"/>
                </a:solidFill>
                <a:latin typeface="Ubuntu"/>
                <a:ea typeface="Ubuntu"/>
                <a:cs typeface="Ubuntu"/>
                <a:sym typeface="Ubuntu"/>
              </a:rPr>
              <a:t>MAE (error magnitude)</a:t>
            </a:r>
            <a:endParaRPr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Font typeface="Ubuntu"/>
              <a:buChar char="●"/>
            </a:pPr>
            <a:r>
              <a:rPr lang="fr" sz="1200">
                <a:solidFill>
                  <a:schemeClr val="dk1"/>
                </a:solidFill>
                <a:latin typeface="Ubuntu"/>
                <a:ea typeface="Ubuntu"/>
                <a:cs typeface="Ubuntu"/>
                <a:sym typeface="Ubuntu"/>
              </a:rPr>
              <a:t>underpricing/overpricing rates</a:t>
            </a:r>
            <a:endParaRPr sz="12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Residuals measure the difference between actual and predicted charges.</a:t>
            </a:r>
            <a:endParaRPr sz="12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Results : </a:t>
            </a:r>
            <a:endParaRPr sz="1200">
              <a:solidFill>
                <a:schemeClr val="dk1"/>
              </a:solidFill>
              <a:latin typeface="Ubuntu"/>
              <a:ea typeface="Ubuntu"/>
              <a:cs typeface="Ubuntu"/>
              <a:sym typeface="Ubuntu"/>
            </a:endParaRPr>
          </a:p>
          <a:p>
            <a:pPr indent="0" lvl="0" marL="0" rtl="0" algn="l">
              <a:spcBef>
                <a:spcPts val="1200"/>
              </a:spcBef>
              <a:spcAft>
                <a:spcPts val="0"/>
              </a:spcAft>
              <a:buNone/>
            </a:pPr>
            <a:r>
              <a:t/>
            </a:r>
            <a:endParaRPr sz="1900">
              <a:solidFill>
                <a:schemeClr val="dk1"/>
              </a:solidFill>
              <a:latin typeface="Ubuntu"/>
              <a:ea typeface="Ubuntu"/>
              <a:cs typeface="Ubuntu"/>
              <a:sym typeface="Ubuntu"/>
            </a:endParaRPr>
          </a:p>
        </p:txBody>
      </p:sp>
      <p:sp>
        <p:nvSpPr>
          <p:cNvPr id="190" name="Google Shape;190;p33"/>
          <p:cNvSpPr txBox="1"/>
          <p:nvPr/>
        </p:nvSpPr>
        <p:spPr>
          <a:xfrm>
            <a:off x="7568225" y="3437275"/>
            <a:ext cx="159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endParaRPr>
          </a:p>
        </p:txBody>
      </p:sp>
      <p:sp>
        <p:nvSpPr>
          <p:cNvPr id="191" name="Google Shape;191;p33"/>
          <p:cNvSpPr/>
          <p:nvPr/>
        </p:nvSpPr>
        <p:spPr>
          <a:xfrm>
            <a:off x="1151849" y="2979325"/>
            <a:ext cx="498600" cy="115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3"/>
          <p:cNvSpPr/>
          <p:nvPr/>
        </p:nvSpPr>
        <p:spPr>
          <a:xfrm>
            <a:off x="1736201" y="2993900"/>
            <a:ext cx="1078500" cy="115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33"/>
          <p:cNvSpPr/>
          <p:nvPr/>
        </p:nvSpPr>
        <p:spPr>
          <a:xfrm>
            <a:off x="2890512" y="2993900"/>
            <a:ext cx="780900" cy="115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33"/>
          <p:cNvSpPr/>
          <p:nvPr/>
        </p:nvSpPr>
        <p:spPr>
          <a:xfrm>
            <a:off x="3758151" y="2993900"/>
            <a:ext cx="1395300" cy="115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33"/>
          <p:cNvSpPr/>
          <p:nvPr/>
        </p:nvSpPr>
        <p:spPr>
          <a:xfrm>
            <a:off x="5216600" y="2979325"/>
            <a:ext cx="1395300" cy="1159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6" name="Google Shape;196;p33"/>
          <p:cNvCxnSpPr/>
          <p:nvPr/>
        </p:nvCxnSpPr>
        <p:spPr>
          <a:xfrm flipH="1" rot="10800000">
            <a:off x="995025" y="4201750"/>
            <a:ext cx="289200" cy="263100"/>
          </a:xfrm>
          <a:prstGeom prst="straightConnector1">
            <a:avLst/>
          </a:prstGeom>
          <a:noFill/>
          <a:ln cap="flat" cmpd="sng" w="9525">
            <a:solidFill>
              <a:srgbClr val="FF0000"/>
            </a:solidFill>
            <a:prstDash val="solid"/>
            <a:round/>
            <a:headEnd len="med" w="med" type="none"/>
            <a:tailEnd len="med" w="med" type="triangle"/>
          </a:ln>
        </p:spPr>
      </p:cxnSp>
      <p:cxnSp>
        <p:nvCxnSpPr>
          <p:cNvPr id="197" name="Google Shape;197;p33"/>
          <p:cNvCxnSpPr/>
          <p:nvPr/>
        </p:nvCxnSpPr>
        <p:spPr>
          <a:xfrm rot="10800000">
            <a:off x="2287050" y="4219353"/>
            <a:ext cx="3000" cy="243000"/>
          </a:xfrm>
          <a:prstGeom prst="straightConnector1">
            <a:avLst/>
          </a:prstGeom>
          <a:noFill/>
          <a:ln cap="flat" cmpd="sng" w="9525">
            <a:solidFill>
              <a:srgbClr val="FF0000"/>
            </a:solidFill>
            <a:prstDash val="solid"/>
            <a:round/>
            <a:headEnd len="med" w="med" type="none"/>
            <a:tailEnd len="med" w="med" type="triangle"/>
          </a:ln>
        </p:spPr>
      </p:cxnSp>
      <p:cxnSp>
        <p:nvCxnSpPr>
          <p:cNvPr id="198" name="Google Shape;198;p33"/>
          <p:cNvCxnSpPr/>
          <p:nvPr/>
        </p:nvCxnSpPr>
        <p:spPr>
          <a:xfrm rot="10800000">
            <a:off x="3230186" y="4203438"/>
            <a:ext cx="273900" cy="243900"/>
          </a:xfrm>
          <a:prstGeom prst="straightConnector1">
            <a:avLst/>
          </a:prstGeom>
          <a:noFill/>
          <a:ln cap="flat" cmpd="sng" w="9525">
            <a:solidFill>
              <a:srgbClr val="FF0000"/>
            </a:solidFill>
            <a:prstDash val="solid"/>
            <a:round/>
            <a:headEnd len="med" w="med" type="none"/>
            <a:tailEnd len="med" w="med" type="triangle"/>
          </a:ln>
        </p:spPr>
      </p:cxnSp>
      <p:cxnSp>
        <p:nvCxnSpPr>
          <p:cNvPr id="199" name="Google Shape;199;p33"/>
          <p:cNvCxnSpPr/>
          <p:nvPr/>
        </p:nvCxnSpPr>
        <p:spPr>
          <a:xfrm rot="10800000">
            <a:off x="5115842" y="4226227"/>
            <a:ext cx="486300" cy="243300"/>
          </a:xfrm>
          <a:prstGeom prst="straightConnector1">
            <a:avLst/>
          </a:prstGeom>
          <a:noFill/>
          <a:ln cap="flat" cmpd="sng" w="9525">
            <a:solidFill>
              <a:srgbClr val="FF0000"/>
            </a:solidFill>
            <a:prstDash val="solid"/>
            <a:round/>
            <a:headEnd len="med" w="med" type="none"/>
            <a:tailEnd len="med" w="med" type="triangle"/>
          </a:ln>
        </p:spPr>
      </p:cxnSp>
      <p:cxnSp>
        <p:nvCxnSpPr>
          <p:cNvPr id="200" name="Google Shape;200;p33"/>
          <p:cNvCxnSpPr/>
          <p:nvPr/>
        </p:nvCxnSpPr>
        <p:spPr>
          <a:xfrm flipH="1" rot="10800000">
            <a:off x="5608867" y="4195877"/>
            <a:ext cx="195900" cy="267600"/>
          </a:xfrm>
          <a:prstGeom prst="straightConnector1">
            <a:avLst/>
          </a:prstGeom>
          <a:noFill/>
          <a:ln cap="flat" cmpd="sng" w="9525">
            <a:solidFill>
              <a:srgbClr val="FF0000"/>
            </a:solidFill>
            <a:prstDash val="solid"/>
            <a:round/>
            <a:headEnd len="med" w="med" type="none"/>
            <a:tailEnd len="med" w="med" type="triangle"/>
          </a:ln>
        </p:spPr>
      </p:cxnSp>
      <p:sp>
        <p:nvSpPr>
          <p:cNvPr id="201" name="Google Shape;201;p33"/>
          <p:cNvSpPr txBox="1"/>
          <p:nvPr/>
        </p:nvSpPr>
        <p:spPr>
          <a:xfrm>
            <a:off x="24884" y="4383786"/>
            <a:ext cx="1307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rgbClr val="FF0000"/>
                </a:solidFill>
                <a:latin typeface="Ubuntu"/>
                <a:ea typeface="Ubuntu"/>
                <a:cs typeface="Ubuntu"/>
                <a:sym typeface="Ubuntu"/>
              </a:rPr>
              <a:t>Groups are balanced</a:t>
            </a:r>
            <a:endParaRPr sz="900">
              <a:solidFill>
                <a:srgbClr val="FF0000"/>
              </a:solidFill>
              <a:latin typeface="Ubuntu"/>
              <a:ea typeface="Ubuntu"/>
              <a:cs typeface="Ubuntu"/>
              <a:sym typeface="Ubuntu"/>
            </a:endParaRPr>
          </a:p>
        </p:txBody>
      </p:sp>
      <p:sp>
        <p:nvSpPr>
          <p:cNvPr id="202" name="Google Shape;202;p33"/>
          <p:cNvSpPr txBox="1"/>
          <p:nvPr/>
        </p:nvSpPr>
        <p:spPr>
          <a:xfrm>
            <a:off x="1331975" y="4368533"/>
            <a:ext cx="166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rgbClr val="FF0000"/>
                </a:solidFill>
                <a:latin typeface="Ubuntu"/>
                <a:ea typeface="Ubuntu"/>
                <a:cs typeface="Ubuntu"/>
                <a:sym typeface="Ubuntu"/>
              </a:rPr>
              <a:t>Close to 0 + tiny difference</a:t>
            </a:r>
            <a:endParaRPr sz="900">
              <a:solidFill>
                <a:srgbClr val="FF0000"/>
              </a:solidFill>
              <a:latin typeface="Ubuntu"/>
              <a:ea typeface="Ubuntu"/>
              <a:cs typeface="Ubuntu"/>
              <a:sym typeface="Ubuntu"/>
            </a:endParaRPr>
          </a:p>
          <a:p>
            <a:pPr indent="0" lvl="0" marL="0" rtl="0" algn="l">
              <a:spcBef>
                <a:spcPts val="0"/>
              </a:spcBef>
              <a:spcAft>
                <a:spcPts val="0"/>
              </a:spcAft>
              <a:buNone/>
            </a:pPr>
            <a:r>
              <a:rPr lang="fr" sz="900">
                <a:solidFill>
                  <a:srgbClr val="FF0000"/>
                </a:solidFill>
                <a:latin typeface="Ubuntu"/>
                <a:ea typeface="Ubuntu"/>
                <a:cs typeface="Ubuntu"/>
                <a:sym typeface="Ubuntu"/>
              </a:rPr>
              <a:t>→ No bias</a:t>
            </a:r>
            <a:endParaRPr sz="900">
              <a:solidFill>
                <a:srgbClr val="FF0000"/>
              </a:solidFill>
              <a:latin typeface="Ubuntu"/>
              <a:ea typeface="Ubuntu"/>
              <a:cs typeface="Ubuntu"/>
              <a:sym typeface="Ubuntu"/>
            </a:endParaRPr>
          </a:p>
        </p:txBody>
      </p:sp>
      <p:sp>
        <p:nvSpPr>
          <p:cNvPr id="203" name="Google Shape;203;p33"/>
          <p:cNvSpPr txBox="1"/>
          <p:nvPr/>
        </p:nvSpPr>
        <p:spPr>
          <a:xfrm>
            <a:off x="2849300" y="4367500"/>
            <a:ext cx="2356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rgbClr val="FF0000"/>
                </a:solidFill>
                <a:latin typeface="Ubuntu"/>
                <a:ea typeface="Ubuntu"/>
                <a:cs typeface="Ubuntu"/>
                <a:sym typeface="Ubuntu"/>
              </a:rPr>
              <a:t>Errors are almost identical</a:t>
            </a:r>
            <a:endParaRPr sz="900">
              <a:solidFill>
                <a:srgbClr val="FF0000"/>
              </a:solidFill>
              <a:latin typeface="Ubuntu"/>
              <a:ea typeface="Ubuntu"/>
              <a:cs typeface="Ubuntu"/>
              <a:sym typeface="Ubuntu"/>
            </a:endParaRPr>
          </a:p>
          <a:p>
            <a:pPr indent="0" lvl="0" marL="0" rtl="0" algn="l">
              <a:spcBef>
                <a:spcPts val="0"/>
              </a:spcBef>
              <a:spcAft>
                <a:spcPts val="0"/>
              </a:spcAft>
              <a:buNone/>
            </a:pPr>
            <a:r>
              <a:rPr lang="fr" sz="900">
                <a:solidFill>
                  <a:srgbClr val="FF0000"/>
                </a:solidFill>
                <a:latin typeface="Ubuntu"/>
                <a:ea typeface="Ubuntu"/>
                <a:cs typeface="Ubuntu"/>
                <a:sym typeface="Ubuntu"/>
              </a:rPr>
              <a:t>→ The model is equally accurate for both groups</a:t>
            </a:r>
            <a:endParaRPr sz="900">
              <a:solidFill>
                <a:srgbClr val="FF0000"/>
              </a:solidFill>
              <a:latin typeface="Ubuntu"/>
              <a:ea typeface="Ubuntu"/>
              <a:cs typeface="Ubuntu"/>
              <a:sym typeface="Ubuntu"/>
            </a:endParaRPr>
          </a:p>
        </p:txBody>
      </p:sp>
      <p:sp>
        <p:nvSpPr>
          <p:cNvPr id="204" name="Google Shape;204;p33"/>
          <p:cNvSpPr txBox="1"/>
          <p:nvPr/>
        </p:nvSpPr>
        <p:spPr>
          <a:xfrm>
            <a:off x="5206182" y="4433175"/>
            <a:ext cx="235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rgbClr val="FF0000"/>
                </a:solidFill>
                <a:latin typeface="Ubuntu"/>
                <a:ea typeface="Ubuntu"/>
                <a:cs typeface="Ubuntu"/>
                <a:sym typeface="Ubuntu"/>
              </a:rPr>
              <a:t>Practically 0 for both</a:t>
            </a:r>
            <a:endParaRPr sz="900">
              <a:solidFill>
                <a:srgbClr val="FF0000"/>
              </a:solidFill>
              <a:latin typeface="Ubuntu"/>
              <a:ea typeface="Ubuntu"/>
              <a:cs typeface="Ubuntu"/>
              <a:sym typeface="Ubuntu"/>
            </a:endParaRPr>
          </a:p>
          <a:p>
            <a:pPr indent="0" lvl="0" marL="0" rtl="0" algn="l">
              <a:spcBef>
                <a:spcPts val="0"/>
              </a:spcBef>
              <a:spcAft>
                <a:spcPts val="0"/>
              </a:spcAft>
              <a:buNone/>
            </a:pPr>
            <a:r>
              <a:rPr lang="fr" sz="900">
                <a:solidFill>
                  <a:srgbClr val="FF0000"/>
                </a:solidFill>
                <a:latin typeface="Ubuntu"/>
                <a:ea typeface="Ubuntu"/>
                <a:cs typeface="Ubuntu"/>
                <a:sym typeface="Ubuntu"/>
              </a:rPr>
              <a:t>→ No group is treated worse</a:t>
            </a:r>
            <a:endParaRPr sz="900">
              <a:solidFill>
                <a:srgbClr val="FF0000"/>
              </a:solidFill>
              <a:latin typeface="Ubuntu"/>
              <a:ea typeface="Ubuntu"/>
              <a:cs typeface="Ubuntu"/>
              <a:sym typeface="Ubuntu"/>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fr" sz="2500">
                <a:latin typeface="Ubuntu"/>
                <a:ea typeface="Ubuntu"/>
                <a:cs typeface="Ubuntu"/>
                <a:sym typeface="Ubuntu"/>
              </a:rPr>
              <a:t>Bootstrap confidence intervals</a:t>
            </a:r>
            <a:endParaRPr b="1" sz="2500">
              <a:latin typeface="Ubuntu"/>
              <a:ea typeface="Ubuntu"/>
              <a:cs typeface="Ubuntu"/>
              <a:sym typeface="Ubuntu"/>
            </a:endParaRPr>
          </a:p>
        </p:txBody>
      </p:sp>
      <p:sp>
        <p:nvSpPr>
          <p:cNvPr id="210" name="Google Shape;21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11" name="Google Shape;211;p34"/>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212" name="Google Shape;212;p34"/>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213" name="Google Shape;213;p34"/>
          <p:cNvSpPr txBox="1"/>
          <p:nvPr/>
        </p:nvSpPr>
        <p:spPr>
          <a:xfrm>
            <a:off x="376250" y="1075700"/>
            <a:ext cx="633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Ubuntu"/>
              <a:ea typeface="Ubuntu"/>
              <a:cs typeface="Ubuntu"/>
              <a:sym typeface="Ubuntu"/>
            </a:endParaRPr>
          </a:p>
        </p:txBody>
      </p:sp>
      <p:pic>
        <p:nvPicPr>
          <p:cNvPr id="214" name="Google Shape;214;p34" title="Screenshot 2025-12-11 at 21.08.36.png"/>
          <p:cNvPicPr preferRelativeResize="0"/>
          <p:nvPr/>
        </p:nvPicPr>
        <p:blipFill>
          <a:blip r:embed="rId3">
            <a:alphaModFix/>
          </a:blip>
          <a:stretch>
            <a:fillRect/>
          </a:stretch>
        </p:blipFill>
        <p:spPr>
          <a:xfrm>
            <a:off x="1127965" y="3132881"/>
            <a:ext cx="4830750" cy="921400"/>
          </a:xfrm>
          <a:prstGeom prst="rect">
            <a:avLst/>
          </a:prstGeom>
          <a:noFill/>
          <a:ln>
            <a:noFill/>
          </a:ln>
        </p:spPr>
      </p:pic>
      <p:sp>
        <p:nvSpPr>
          <p:cNvPr id="215" name="Google Shape;215;p34"/>
          <p:cNvSpPr txBox="1"/>
          <p:nvPr/>
        </p:nvSpPr>
        <p:spPr>
          <a:xfrm>
            <a:off x="139700" y="1075700"/>
            <a:ext cx="8788500" cy="248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250">
                <a:solidFill>
                  <a:schemeClr val="dk1"/>
                </a:solidFill>
                <a:latin typeface="Ubuntu"/>
                <a:ea typeface="Ubuntu"/>
                <a:cs typeface="Ubuntu"/>
                <a:sym typeface="Ubuntu"/>
              </a:rPr>
              <a:t>To test whether group differences are meaningful or due to noise, we compute 95% bootstrap confidence intervals.</a:t>
            </a:r>
            <a:endParaRPr sz="1250">
              <a:solidFill>
                <a:schemeClr val="dk1"/>
              </a:solidFill>
              <a:latin typeface="Ubuntu"/>
              <a:ea typeface="Ubuntu"/>
              <a:cs typeface="Ubuntu"/>
              <a:sym typeface="Ubuntu"/>
            </a:endParaRPr>
          </a:p>
          <a:p>
            <a:pPr indent="-304800" lvl="0" marL="457200" rtl="0" algn="l">
              <a:lnSpc>
                <a:spcPct val="115000"/>
              </a:lnSpc>
              <a:spcBef>
                <a:spcPts val="1200"/>
              </a:spcBef>
              <a:spcAft>
                <a:spcPts val="0"/>
              </a:spcAft>
              <a:buClr>
                <a:schemeClr val="dk1"/>
              </a:buClr>
              <a:buSzPts val="1200"/>
              <a:buChar char="●"/>
            </a:pPr>
            <a:r>
              <a:rPr lang="fr" sz="1200">
                <a:solidFill>
                  <a:schemeClr val="dk1"/>
                </a:solidFill>
                <a:latin typeface="Ubuntu"/>
                <a:ea typeface="Ubuntu"/>
                <a:cs typeface="Ubuntu"/>
                <a:sym typeface="Ubuntu"/>
              </a:rPr>
              <a:t>We repeatedly resample the test data with replacement</a:t>
            </a:r>
            <a:endParaRPr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Char char="●"/>
            </a:pPr>
            <a:r>
              <a:rPr lang="fr" sz="1200">
                <a:solidFill>
                  <a:schemeClr val="dk1"/>
                </a:solidFill>
                <a:latin typeface="Ubuntu"/>
                <a:ea typeface="Ubuntu"/>
                <a:cs typeface="Ubuntu"/>
                <a:sym typeface="Ubuntu"/>
              </a:rPr>
              <a:t>For each resample, we recompute </a:t>
            </a:r>
            <a:r>
              <a:rPr b="1" lang="fr" sz="1200">
                <a:solidFill>
                  <a:srgbClr val="F4CCCC"/>
                </a:solidFill>
                <a:latin typeface="Ubuntu"/>
                <a:ea typeface="Ubuntu"/>
                <a:cs typeface="Ubuntu"/>
                <a:sym typeface="Ubuntu"/>
              </a:rPr>
              <a:t>the difference between smokers and non-smokers</a:t>
            </a:r>
            <a:endParaRPr b="1" sz="1200">
              <a:solidFill>
                <a:srgbClr val="F4CCCC"/>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Char char="●"/>
            </a:pPr>
            <a:r>
              <a:rPr lang="fr" sz="1200">
                <a:solidFill>
                  <a:schemeClr val="dk1"/>
                </a:solidFill>
                <a:latin typeface="Ubuntu"/>
                <a:ea typeface="Ubuntu"/>
                <a:cs typeface="Ubuntu"/>
                <a:sym typeface="Ubuntu"/>
              </a:rPr>
              <a:t>We do this </a:t>
            </a:r>
            <a:r>
              <a:rPr b="1" lang="fr" sz="1200">
                <a:solidFill>
                  <a:schemeClr val="dk1"/>
                </a:solidFill>
                <a:latin typeface="Ubuntu"/>
                <a:ea typeface="Ubuntu"/>
                <a:cs typeface="Ubuntu"/>
                <a:sym typeface="Ubuntu"/>
              </a:rPr>
              <a:t>2’000 times</a:t>
            </a:r>
            <a:endParaRPr b="1" sz="1200">
              <a:solidFill>
                <a:schemeClr val="dk1"/>
              </a:solidFill>
              <a:latin typeface="Ubuntu"/>
              <a:ea typeface="Ubuntu"/>
              <a:cs typeface="Ubuntu"/>
              <a:sym typeface="Ubuntu"/>
            </a:endParaRPr>
          </a:p>
          <a:p>
            <a:pPr indent="-304800" lvl="0" marL="457200" rtl="0" algn="l">
              <a:lnSpc>
                <a:spcPct val="115000"/>
              </a:lnSpc>
              <a:spcBef>
                <a:spcPts val="0"/>
              </a:spcBef>
              <a:spcAft>
                <a:spcPts val="0"/>
              </a:spcAft>
              <a:buClr>
                <a:schemeClr val="dk1"/>
              </a:buClr>
              <a:buSzPts val="1200"/>
              <a:buFont typeface="Ubuntu"/>
              <a:buChar char="●"/>
            </a:pPr>
            <a:r>
              <a:rPr lang="fr" sz="1200">
                <a:solidFill>
                  <a:schemeClr val="dk1"/>
                </a:solidFill>
                <a:latin typeface="Ubuntu"/>
                <a:ea typeface="Ubuntu"/>
                <a:cs typeface="Ubuntu"/>
                <a:sym typeface="Ubuntu"/>
              </a:rPr>
              <a:t>We look at the distribution of these differences</a:t>
            </a:r>
            <a:endParaRPr sz="12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From that distribution, we compute a 95% confidence interval (CI)</a:t>
            </a:r>
            <a:endParaRPr sz="12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200">
                <a:solidFill>
                  <a:schemeClr val="dk1"/>
                </a:solidFill>
                <a:latin typeface="Ubuntu"/>
                <a:ea typeface="Ubuntu"/>
                <a:cs typeface="Ubuntu"/>
                <a:sym typeface="Ubuntu"/>
              </a:rPr>
              <a:t>Results :</a:t>
            </a:r>
            <a:endParaRPr sz="1200">
              <a:solidFill>
                <a:schemeClr val="dk1"/>
              </a:solidFill>
              <a:latin typeface="Ubuntu"/>
              <a:ea typeface="Ubuntu"/>
              <a:cs typeface="Ubuntu"/>
              <a:sym typeface="Ubuntu"/>
            </a:endParaRPr>
          </a:p>
          <a:p>
            <a:pPr indent="0" lvl="0" marL="0" rtl="0" algn="l">
              <a:spcBef>
                <a:spcPts val="1200"/>
              </a:spcBef>
              <a:spcAft>
                <a:spcPts val="0"/>
              </a:spcAft>
              <a:buNone/>
            </a:pPr>
            <a:r>
              <a:t/>
            </a:r>
            <a:endParaRPr>
              <a:solidFill>
                <a:schemeClr val="dk1"/>
              </a:solidFill>
              <a:latin typeface="Ubuntu"/>
              <a:ea typeface="Ubuntu"/>
              <a:cs typeface="Ubuntu"/>
              <a:sym typeface="Ubuntu"/>
            </a:endParaRPr>
          </a:p>
        </p:txBody>
      </p:sp>
      <p:sp>
        <p:nvSpPr>
          <p:cNvPr id="216" name="Google Shape;216;p34"/>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217" name="Google Shape;217;p34"/>
          <p:cNvSpPr/>
          <p:nvPr/>
        </p:nvSpPr>
        <p:spPr>
          <a:xfrm>
            <a:off x="6098425" y="3132925"/>
            <a:ext cx="150000" cy="921300"/>
          </a:xfrm>
          <a:prstGeom prst="righ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34"/>
          <p:cNvSpPr txBox="1"/>
          <p:nvPr/>
        </p:nvSpPr>
        <p:spPr>
          <a:xfrm>
            <a:off x="6250825" y="3124200"/>
            <a:ext cx="2878800" cy="15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900">
                <a:solidFill>
                  <a:schemeClr val="dk1"/>
                </a:solidFill>
                <a:latin typeface="Ubuntu"/>
                <a:ea typeface="Ubuntu"/>
                <a:cs typeface="Ubuntu"/>
                <a:sym typeface="Ubuntu"/>
              </a:rPr>
              <a:t>A positive value → smokers have higher value</a:t>
            </a:r>
            <a:endParaRPr sz="9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900">
                <a:solidFill>
                  <a:schemeClr val="dk1"/>
                </a:solidFill>
                <a:latin typeface="Ubuntu"/>
                <a:ea typeface="Ubuntu"/>
                <a:cs typeface="Ubuntu"/>
                <a:sym typeface="Ubuntu"/>
              </a:rPr>
              <a:t>A negative value → non-smokers have higher value</a:t>
            </a:r>
            <a:endParaRPr sz="9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b="1" lang="fr" sz="900">
                <a:solidFill>
                  <a:srgbClr val="F4CCCC"/>
                </a:solidFill>
                <a:latin typeface="Ubuntu"/>
                <a:ea typeface="Ubuntu"/>
                <a:cs typeface="Ubuntu"/>
                <a:sym typeface="Ubuntu"/>
              </a:rPr>
              <a:t>0 → no difference between groups</a:t>
            </a:r>
            <a:br>
              <a:rPr lang="fr" sz="900">
                <a:solidFill>
                  <a:schemeClr val="dk1"/>
                </a:solidFill>
                <a:latin typeface="Ubuntu"/>
                <a:ea typeface="Ubuntu"/>
                <a:cs typeface="Ubuntu"/>
                <a:sym typeface="Ubuntu"/>
              </a:rPr>
            </a:br>
            <a:endParaRPr sz="900">
              <a:solidFill>
                <a:schemeClr val="dk1"/>
              </a:solidFill>
              <a:latin typeface="Ubuntu"/>
              <a:ea typeface="Ubuntu"/>
              <a:cs typeface="Ubuntu"/>
              <a:sym typeface="Ubuntu"/>
            </a:endParaRPr>
          </a:p>
          <a:p>
            <a:pPr indent="0" lvl="0" marL="0" rtl="0" algn="l">
              <a:spcBef>
                <a:spcPts val="1200"/>
              </a:spcBef>
              <a:spcAft>
                <a:spcPts val="0"/>
              </a:spcAft>
              <a:buNone/>
            </a:pPr>
            <a:r>
              <a:t/>
            </a:r>
            <a:endParaRPr sz="1600">
              <a:solidFill>
                <a:schemeClr val="dk1"/>
              </a:solidFill>
              <a:latin typeface="Ubuntu"/>
              <a:ea typeface="Ubuntu"/>
              <a:cs typeface="Ubuntu"/>
              <a:sym typeface="Ubuntu"/>
            </a:endParaRPr>
          </a:p>
        </p:txBody>
      </p:sp>
      <p:sp>
        <p:nvSpPr>
          <p:cNvPr id="219" name="Google Shape;219;p34"/>
          <p:cNvSpPr txBox="1"/>
          <p:nvPr/>
        </p:nvSpPr>
        <p:spPr>
          <a:xfrm>
            <a:off x="349200" y="4114800"/>
            <a:ext cx="82521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300">
                <a:solidFill>
                  <a:srgbClr val="FF0000"/>
                </a:solidFill>
                <a:latin typeface="Ubuntu"/>
                <a:ea typeface="Ubuntu"/>
                <a:cs typeface="Ubuntu"/>
                <a:sym typeface="Ubuntu"/>
              </a:rPr>
              <a:t>All bootstrap confidence intervals include 0 → no statistically significant group differences.</a:t>
            </a:r>
            <a:br>
              <a:rPr b="1" lang="fr" sz="1300">
                <a:solidFill>
                  <a:srgbClr val="FF0000"/>
                </a:solidFill>
                <a:latin typeface="Ubuntu"/>
                <a:ea typeface="Ubuntu"/>
                <a:cs typeface="Ubuntu"/>
                <a:sym typeface="Ubuntu"/>
              </a:rPr>
            </a:br>
            <a:r>
              <a:rPr lang="fr" sz="1300">
                <a:solidFill>
                  <a:srgbClr val="FF0000"/>
                </a:solidFill>
                <a:latin typeface="Ubuntu"/>
                <a:ea typeface="Ubuntu"/>
                <a:cs typeface="Ubuntu"/>
                <a:sym typeface="Ubuntu"/>
              </a:rPr>
              <a:t>In other words  →  The model is </a:t>
            </a:r>
            <a:r>
              <a:rPr b="1" lang="fr" sz="1300">
                <a:solidFill>
                  <a:srgbClr val="FF0000"/>
                </a:solidFill>
                <a:latin typeface="Ubuntu"/>
                <a:ea typeface="Ubuntu"/>
                <a:cs typeface="Ubuntu"/>
                <a:sym typeface="Ubuntu"/>
              </a:rPr>
              <a:t>statistically fair </a:t>
            </a:r>
            <a:r>
              <a:rPr lang="fr" sz="1300">
                <a:solidFill>
                  <a:srgbClr val="FF0000"/>
                </a:solidFill>
                <a:latin typeface="Ubuntu"/>
                <a:ea typeface="Ubuntu"/>
                <a:cs typeface="Ubuntu"/>
                <a:sym typeface="Ubuntu"/>
              </a:rPr>
              <a:t>with respect to smoking status.</a:t>
            </a:r>
            <a:endParaRPr sz="1300">
              <a:solidFill>
                <a:srgbClr val="FF0000"/>
              </a:solidFill>
              <a:latin typeface="Ubuntu"/>
              <a:ea typeface="Ubuntu"/>
              <a:cs typeface="Ubuntu"/>
              <a:sym typeface="Ubuntu"/>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fr" sz="2500">
                <a:latin typeface="Ubuntu"/>
                <a:ea typeface="Ubuntu"/>
                <a:cs typeface="Ubuntu"/>
                <a:sym typeface="Ubuntu"/>
              </a:rPr>
              <a:t>Fairness metrics (DP, EO, Eodds) </a:t>
            </a:r>
            <a:endParaRPr b="1" sz="2500">
              <a:latin typeface="Ubuntu"/>
              <a:ea typeface="Ubuntu"/>
              <a:cs typeface="Ubuntu"/>
              <a:sym typeface="Ubuntu"/>
            </a:endParaRPr>
          </a:p>
        </p:txBody>
      </p:sp>
      <p:sp>
        <p:nvSpPr>
          <p:cNvPr id="225" name="Google Shape;22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26" name="Google Shape;226;p35"/>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227" name="Google Shape;227;p35"/>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228" name="Google Shape;228;p35"/>
          <p:cNvSpPr txBox="1"/>
          <p:nvPr/>
        </p:nvSpPr>
        <p:spPr>
          <a:xfrm>
            <a:off x="376250" y="1075700"/>
            <a:ext cx="633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Ubuntu"/>
              <a:ea typeface="Ubuntu"/>
              <a:cs typeface="Ubuntu"/>
              <a:sym typeface="Ubuntu"/>
            </a:endParaRPr>
          </a:p>
        </p:txBody>
      </p:sp>
      <p:sp>
        <p:nvSpPr>
          <p:cNvPr id="229" name="Google Shape;229;p35"/>
          <p:cNvSpPr txBox="1"/>
          <p:nvPr/>
        </p:nvSpPr>
        <p:spPr>
          <a:xfrm>
            <a:off x="363550" y="1012200"/>
            <a:ext cx="8575200" cy="207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a:solidFill>
                  <a:schemeClr val="dk1"/>
                </a:solidFill>
                <a:latin typeface="Ubuntu"/>
                <a:ea typeface="Ubuntu"/>
                <a:cs typeface="Ubuntu"/>
                <a:sym typeface="Ubuntu"/>
              </a:rPr>
              <a:t>We adapt Lab 7 fairness definitions by transforming charges into a binary high-cost vs low-cost label.</a:t>
            </a:r>
            <a:br>
              <a:rPr lang="fr">
                <a:solidFill>
                  <a:schemeClr val="dk1"/>
                </a:solidFill>
                <a:latin typeface="Ubuntu"/>
                <a:ea typeface="Ubuntu"/>
                <a:cs typeface="Ubuntu"/>
                <a:sym typeface="Ubuntu"/>
              </a:rPr>
            </a:br>
            <a:r>
              <a:rPr lang="fr" sz="1100">
                <a:solidFill>
                  <a:schemeClr val="dk1"/>
                </a:solidFill>
                <a:latin typeface="Ubuntu"/>
                <a:ea typeface="Ubuntu"/>
                <a:cs typeface="Ubuntu"/>
                <a:sym typeface="Ubuntu"/>
              </a:rPr>
              <a:t>These three numbers measure group fairness between </a:t>
            </a:r>
            <a:r>
              <a:rPr b="1" lang="fr" sz="1100">
                <a:solidFill>
                  <a:schemeClr val="dk1"/>
                </a:solidFill>
                <a:latin typeface="Ubuntu"/>
                <a:ea typeface="Ubuntu"/>
                <a:cs typeface="Ubuntu"/>
                <a:sym typeface="Ubuntu"/>
              </a:rPr>
              <a:t>Non-smokers (protected group = 0) </a:t>
            </a:r>
            <a:r>
              <a:rPr lang="fr" sz="1100">
                <a:solidFill>
                  <a:schemeClr val="dk1"/>
                </a:solidFill>
                <a:latin typeface="Ubuntu"/>
                <a:ea typeface="Ubuntu"/>
                <a:cs typeface="Ubuntu"/>
                <a:sym typeface="Ubuntu"/>
              </a:rPr>
              <a:t>and </a:t>
            </a:r>
            <a:r>
              <a:rPr b="1" lang="fr" sz="1100">
                <a:solidFill>
                  <a:schemeClr val="dk1"/>
                </a:solidFill>
                <a:latin typeface="Ubuntu"/>
                <a:ea typeface="Ubuntu"/>
                <a:cs typeface="Ubuntu"/>
                <a:sym typeface="Ubuntu"/>
              </a:rPr>
              <a:t>Smokers (protected group = 1).</a:t>
            </a:r>
            <a:br>
              <a:rPr b="1" lang="fr" sz="110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They are computed after converting the regression problem into a binary one: </a:t>
            </a:r>
            <a:r>
              <a:rPr i="1" lang="fr" sz="1050">
                <a:solidFill>
                  <a:schemeClr val="dk1"/>
                </a:solidFill>
                <a:latin typeface="Ubuntu"/>
                <a:ea typeface="Ubuntu"/>
                <a:cs typeface="Ubuntu"/>
                <a:sym typeface="Ubuntu"/>
              </a:rPr>
              <a:t>“Is this person high-cost or not ?”</a:t>
            </a:r>
            <a:br>
              <a:rPr i="1" lang="fr" sz="105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Each metric measures a difference between groups.</a:t>
            </a:r>
            <a:endParaRPr sz="11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100">
                <a:solidFill>
                  <a:schemeClr val="dk1"/>
                </a:solidFill>
                <a:latin typeface="Ubuntu"/>
                <a:ea typeface="Ubuntu"/>
                <a:cs typeface="Ubuntu"/>
                <a:sym typeface="Ubuntu"/>
              </a:rPr>
              <a:t>DP → asks </a:t>
            </a:r>
            <a:r>
              <a:rPr lang="fr" sz="1100">
                <a:solidFill>
                  <a:srgbClr val="F4CCCC"/>
                </a:solidFill>
                <a:latin typeface="Ubuntu"/>
                <a:ea typeface="Ubuntu"/>
                <a:cs typeface="Ubuntu"/>
                <a:sym typeface="Ubuntu"/>
              </a:rPr>
              <a:t>Do smokers and non-smokers receive a high-cost prediction at the same rate ?</a:t>
            </a:r>
            <a:br>
              <a:rPr lang="fr" sz="110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EO → aks </a:t>
            </a:r>
            <a:r>
              <a:rPr lang="fr" sz="1100">
                <a:solidFill>
                  <a:srgbClr val="F4CCCC"/>
                </a:solidFill>
                <a:latin typeface="Ubuntu"/>
                <a:ea typeface="Ubuntu"/>
                <a:cs typeface="Ubuntu"/>
                <a:sym typeface="Ubuntu"/>
              </a:rPr>
              <a:t>Among truly high-cost individuals, does the model detect smokers and non-smokers equally well ?</a:t>
            </a:r>
            <a:br>
              <a:rPr lang="fr" sz="110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Eodds → aks </a:t>
            </a:r>
            <a:r>
              <a:rPr lang="fr" sz="1100">
                <a:solidFill>
                  <a:srgbClr val="F4CCCC"/>
                </a:solidFill>
                <a:latin typeface="Ubuntu"/>
                <a:ea typeface="Ubuntu"/>
                <a:cs typeface="Ubuntu"/>
                <a:sym typeface="Ubuntu"/>
              </a:rPr>
              <a:t>Does the model make similar mistakes for smokers and non-smokers ?</a:t>
            </a:r>
            <a:endParaRPr sz="1100">
              <a:solidFill>
                <a:srgbClr val="F4CCCC"/>
              </a:solidFill>
              <a:latin typeface="Ubuntu"/>
              <a:ea typeface="Ubuntu"/>
              <a:cs typeface="Ubuntu"/>
              <a:sym typeface="Ubuntu"/>
            </a:endParaRPr>
          </a:p>
          <a:p>
            <a:pPr indent="0" lvl="0" marL="0" rtl="0" algn="l">
              <a:lnSpc>
                <a:spcPct val="115000"/>
              </a:lnSpc>
              <a:spcBef>
                <a:spcPts val="1200"/>
              </a:spcBef>
              <a:spcAft>
                <a:spcPts val="1200"/>
              </a:spcAft>
              <a:buNone/>
            </a:pPr>
            <a:r>
              <a:rPr lang="fr" sz="1100">
                <a:solidFill>
                  <a:schemeClr val="dk1"/>
                </a:solidFill>
                <a:latin typeface="Ubuntu"/>
                <a:ea typeface="Ubuntu"/>
                <a:cs typeface="Ubuntu"/>
                <a:sym typeface="Ubuntu"/>
              </a:rPr>
              <a:t>Results : </a:t>
            </a:r>
            <a:endParaRPr>
              <a:solidFill>
                <a:schemeClr val="dk1"/>
              </a:solidFill>
              <a:latin typeface="Ubuntu"/>
              <a:ea typeface="Ubuntu"/>
              <a:cs typeface="Ubuntu"/>
              <a:sym typeface="Ubuntu"/>
            </a:endParaRPr>
          </a:p>
        </p:txBody>
      </p:sp>
      <p:pic>
        <p:nvPicPr>
          <p:cNvPr id="230" name="Google Shape;230;p35" title="Screenshot 2025-12-11 at 19.52.35.png"/>
          <p:cNvPicPr preferRelativeResize="0"/>
          <p:nvPr/>
        </p:nvPicPr>
        <p:blipFill rotWithShape="1">
          <a:blip r:embed="rId3">
            <a:alphaModFix/>
          </a:blip>
          <a:srcRect b="17552" l="0" r="4644" t="12381"/>
          <a:stretch/>
        </p:blipFill>
        <p:spPr>
          <a:xfrm>
            <a:off x="988069" y="2777252"/>
            <a:ext cx="5040224" cy="1102975"/>
          </a:xfrm>
          <a:prstGeom prst="rect">
            <a:avLst/>
          </a:prstGeom>
          <a:noFill/>
          <a:ln>
            <a:noFill/>
          </a:ln>
        </p:spPr>
      </p:pic>
      <p:sp>
        <p:nvSpPr>
          <p:cNvPr id="231" name="Google Shape;231;p35"/>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232" name="Google Shape;232;p35"/>
          <p:cNvSpPr/>
          <p:nvPr/>
        </p:nvSpPr>
        <p:spPr>
          <a:xfrm>
            <a:off x="6098425" y="2968295"/>
            <a:ext cx="150000" cy="921300"/>
          </a:xfrm>
          <a:prstGeom prst="righ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5"/>
          <p:cNvSpPr txBox="1"/>
          <p:nvPr/>
        </p:nvSpPr>
        <p:spPr>
          <a:xfrm>
            <a:off x="6318550" y="3041381"/>
            <a:ext cx="27726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100">
                <a:solidFill>
                  <a:schemeClr val="dk1"/>
                </a:solidFill>
              </a:rPr>
              <a:t>0 = perfectly fair</a:t>
            </a:r>
            <a:br>
              <a:rPr b="1" lang="fr" sz="1100">
                <a:solidFill>
                  <a:schemeClr val="dk1"/>
                </a:solidFill>
              </a:rPr>
            </a:br>
            <a:r>
              <a:rPr b="1" lang="fr" sz="1100">
                <a:solidFill>
                  <a:schemeClr val="dk1"/>
                </a:solidFill>
              </a:rPr>
              <a:t>Closer to 0 = more fair</a:t>
            </a:r>
            <a:br>
              <a:rPr b="1" lang="fr" sz="1100">
                <a:solidFill>
                  <a:schemeClr val="dk1"/>
                </a:solidFill>
              </a:rPr>
            </a:br>
            <a:r>
              <a:rPr b="1" lang="fr" sz="1100">
                <a:solidFill>
                  <a:schemeClr val="dk1"/>
                </a:solidFill>
              </a:rPr>
              <a:t>Larger values = larger group disparity</a:t>
            </a:r>
            <a:endParaRPr sz="1800">
              <a:solidFill>
                <a:schemeClr val="dk1"/>
              </a:solidFill>
            </a:endParaRPr>
          </a:p>
        </p:txBody>
      </p:sp>
      <p:cxnSp>
        <p:nvCxnSpPr>
          <p:cNvPr id="234" name="Google Shape;234;p35"/>
          <p:cNvCxnSpPr/>
          <p:nvPr/>
        </p:nvCxnSpPr>
        <p:spPr>
          <a:xfrm flipH="1" rot="10800000">
            <a:off x="518575" y="3201075"/>
            <a:ext cx="730800" cy="429000"/>
          </a:xfrm>
          <a:prstGeom prst="straightConnector1">
            <a:avLst/>
          </a:prstGeom>
          <a:noFill/>
          <a:ln cap="flat" cmpd="sng" w="9525">
            <a:solidFill>
              <a:srgbClr val="FF0000"/>
            </a:solidFill>
            <a:prstDash val="solid"/>
            <a:round/>
            <a:headEnd len="med" w="med" type="none"/>
            <a:tailEnd len="med" w="med" type="triangle"/>
          </a:ln>
        </p:spPr>
      </p:cxnSp>
      <p:cxnSp>
        <p:nvCxnSpPr>
          <p:cNvPr id="235" name="Google Shape;235;p35"/>
          <p:cNvCxnSpPr/>
          <p:nvPr/>
        </p:nvCxnSpPr>
        <p:spPr>
          <a:xfrm rot="10800000">
            <a:off x="4691300" y="3594575"/>
            <a:ext cx="470100" cy="462600"/>
          </a:xfrm>
          <a:prstGeom prst="straightConnector1">
            <a:avLst/>
          </a:prstGeom>
          <a:noFill/>
          <a:ln cap="flat" cmpd="sng" w="9525">
            <a:solidFill>
              <a:srgbClr val="FF0000"/>
            </a:solidFill>
            <a:prstDash val="solid"/>
            <a:round/>
            <a:headEnd len="med" w="med" type="none"/>
            <a:tailEnd len="med" w="med" type="triangle"/>
          </a:ln>
        </p:spPr>
      </p:cxnSp>
      <p:cxnSp>
        <p:nvCxnSpPr>
          <p:cNvPr id="236" name="Google Shape;236;p35"/>
          <p:cNvCxnSpPr/>
          <p:nvPr/>
        </p:nvCxnSpPr>
        <p:spPr>
          <a:xfrm rot="10800000">
            <a:off x="4138750" y="3832600"/>
            <a:ext cx="351600" cy="351600"/>
          </a:xfrm>
          <a:prstGeom prst="straightConnector1">
            <a:avLst/>
          </a:prstGeom>
          <a:noFill/>
          <a:ln cap="flat" cmpd="sng" w="9525">
            <a:solidFill>
              <a:srgbClr val="FF0000"/>
            </a:solidFill>
            <a:prstDash val="solid"/>
            <a:round/>
            <a:headEnd len="med" w="med" type="none"/>
            <a:tailEnd len="med" w="med" type="triangle"/>
          </a:ln>
        </p:spPr>
      </p:cxnSp>
      <p:sp>
        <p:nvSpPr>
          <p:cNvPr id="237" name="Google Shape;237;p35"/>
          <p:cNvSpPr txBox="1"/>
          <p:nvPr/>
        </p:nvSpPr>
        <p:spPr>
          <a:xfrm>
            <a:off x="58375" y="3665600"/>
            <a:ext cx="3764700" cy="152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00">
                <a:solidFill>
                  <a:srgbClr val="FF0000"/>
                </a:solidFill>
                <a:latin typeface="Ubuntu"/>
                <a:ea typeface="Ubuntu"/>
                <a:cs typeface="Ubuntu"/>
                <a:sym typeface="Ubuntu"/>
              </a:rPr>
              <a:t>Large difference</a:t>
            </a:r>
            <a:br>
              <a:rPr lang="fr" sz="800">
                <a:solidFill>
                  <a:srgbClr val="FF0000"/>
                </a:solidFill>
                <a:latin typeface="Ubuntu"/>
                <a:ea typeface="Ubuntu"/>
                <a:cs typeface="Ubuntu"/>
                <a:sym typeface="Ubuntu"/>
              </a:rPr>
            </a:br>
            <a:r>
              <a:rPr lang="fr" sz="800">
                <a:solidFill>
                  <a:srgbClr val="FF0000"/>
                </a:solidFill>
                <a:latin typeface="Ubuntu"/>
                <a:ea typeface="Ubuntu"/>
                <a:cs typeface="Ubuntu"/>
                <a:sym typeface="Ubuntu"/>
              </a:rPr>
              <a:t>→ due to real medical risk</a:t>
            </a:r>
            <a:endParaRPr sz="800">
              <a:solidFill>
                <a:srgbClr val="FF0000"/>
              </a:solidFill>
              <a:latin typeface="Ubuntu"/>
              <a:ea typeface="Ubuntu"/>
              <a:cs typeface="Ubuntu"/>
              <a:sym typeface="Ubuntu"/>
            </a:endParaRPr>
          </a:p>
          <a:p>
            <a:pPr indent="0" lvl="0" marL="0" rtl="0" algn="l">
              <a:lnSpc>
                <a:spcPct val="115000"/>
              </a:lnSpc>
              <a:spcBef>
                <a:spcPts val="0"/>
              </a:spcBef>
              <a:spcAft>
                <a:spcPts val="0"/>
              </a:spcAft>
              <a:buNone/>
            </a:pPr>
            <a:r>
              <a:rPr lang="fr" sz="800">
                <a:solidFill>
                  <a:srgbClr val="FF0000"/>
                </a:solidFill>
                <a:latin typeface="Ubuntu"/>
                <a:ea typeface="Ubuntu"/>
                <a:cs typeface="Ubuntu"/>
                <a:sym typeface="Ubuntu"/>
              </a:rPr>
              <a:t>→ </a:t>
            </a:r>
            <a:r>
              <a:rPr b="1" lang="fr" sz="800">
                <a:solidFill>
                  <a:srgbClr val="FF0000"/>
                </a:solidFill>
                <a:latin typeface="Ubuntu"/>
                <a:ea typeface="Ubuntu"/>
                <a:cs typeface="Ubuntu"/>
                <a:sym typeface="Ubuntu"/>
              </a:rPr>
              <a:t>is NOT the right fairness criterion</a:t>
            </a:r>
            <a:endParaRPr b="1" sz="800">
              <a:solidFill>
                <a:srgbClr val="FF0000"/>
              </a:solidFill>
              <a:latin typeface="Ubuntu"/>
              <a:ea typeface="Ubuntu"/>
              <a:cs typeface="Ubuntu"/>
              <a:sym typeface="Ubuntu"/>
            </a:endParaRPr>
          </a:p>
          <a:p>
            <a:pPr indent="0" lvl="0" marL="0" rtl="0" algn="l">
              <a:spcBef>
                <a:spcPts val="0"/>
              </a:spcBef>
              <a:spcAft>
                <a:spcPts val="0"/>
              </a:spcAft>
              <a:buNone/>
            </a:pPr>
            <a:br>
              <a:rPr b="1" lang="fr" sz="1100"/>
            </a:br>
            <a:endParaRPr b="1" sz="1100"/>
          </a:p>
          <a:p>
            <a:pPr indent="0" lvl="0" marL="0" rtl="0" algn="l">
              <a:spcBef>
                <a:spcPts val="0"/>
              </a:spcBef>
              <a:spcAft>
                <a:spcPts val="0"/>
              </a:spcAft>
              <a:buNone/>
            </a:pPr>
            <a:br>
              <a:rPr lang="fr" sz="1100"/>
            </a:br>
            <a:endParaRPr sz="1100"/>
          </a:p>
          <a:p>
            <a:pPr indent="0" lvl="0" marL="0" rtl="0" algn="l">
              <a:spcBef>
                <a:spcPts val="0"/>
              </a:spcBef>
              <a:spcAft>
                <a:spcPts val="0"/>
              </a:spcAft>
              <a:buNone/>
            </a:pPr>
            <a:r>
              <a:t/>
            </a:r>
            <a:endParaRPr sz="1800">
              <a:solidFill>
                <a:schemeClr val="lt2"/>
              </a:solidFill>
            </a:endParaRPr>
          </a:p>
        </p:txBody>
      </p:sp>
      <p:sp>
        <p:nvSpPr>
          <p:cNvPr id="238" name="Google Shape;238;p35"/>
          <p:cNvSpPr txBox="1"/>
          <p:nvPr/>
        </p:nvSpPr>
        <p:spPr>
          <a:xfrm>
            <a:off x="4138750" y="4101425"/>
            <a:ext cx="2336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00">
                <a:solidFill>
                  <a:srgbClr val="FF0000"/>
                </a:solidFill>
                <a:latin typeface="Ubuntu"/>
                <a:ea typeface="Ubuntu"/>
                <a:cs typeface="Ubuntu"/>
                <a:sym typeface="Ubuntu"/>
              </a:rPr>
              <a:t>Close to 0</a:t>
            </a:r>
            <a:br>
              <a:rPr lang="fr" sz="800">
                <a:solidFill>
                  <a:srgbClr val="FF0000"/>
                </a:solidFill>
                <a:latin typeface="Ubuntu"/>
                <a:ea typeface="Ubuntu"/>
                <a:cs typeface="Ubuntu"/>
                <a:sym typeface="Ubuntu"/>
              </a:rPr>
            </a:br>
            <a:r>
              <a:rPr lang="fr" sz="800">
                <a:solidFill>
                  <a:srgbClr val="FF0000"/>
                </a:solidFill>
                <a:latin typeface="Ubuntu"/>
                <a:ea typeface="Ubuntu"/>
                <a:cs typeface="Ubuntu"/>
                <a:sym typeface="Ubuntu"/>
              </a:rPr>
              <a:t>→ Groups treated equally when it matters</a:t>
            </a:r>
            <a:endParaRPr sz="1800">
              <a:solidFill>
                <a:schemeClr val="lt2"/>
              </a:solidFill>
            </a:endParaRPr>
          </a:p>
        </p:txBody>
      </p:sp>
      <p:sp>
        <p:nvSpPr>
          <p:cNvPr id="239" name="Google Shape;239;p35"/>
          <p:cNvSpPr txBox="1"/>
          <p:nvPr/>
        </p:nvSpPr>
        <p:spPr>
          <a:xfrm>
            <a:off x="5134864" y="3912279"/>
            <a:ext cx="2336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00">
                <a:solidFill>
                  <a:srgbClr val="FF0000"/>
                </a:solidFill>
                <a:latin typeface="Ubuntu"/>
                <a:ea typeface="Ubuntu"/>
                <a:cs typeface="Ubuntu"/>
                <a:sym typeface="Ubuntu"/>
              </a:rPr>
              <a:t>Close to 0</a:t>
            </a:r>
            <a:br>
              <a:rPr lang="fr" sz="800">
                <a:solidFill>
                  <a:srgbClr val="FF0000"/>
                </a:solidFill>
                <a:latin typeface="Ubuntu"/>
                <a:ea typeface="Ubuntu"/>
                <a:cs typeface="Ubuntu"/>
                <a:sym typeface="Ubuntu"/>
              </a:rPr>
            </a:br>
            <a:r>
              <a:rPr lang="fr" sz="800">
                <a:solidFill>
                  <a:srgbClr val="FF0000"/>
                </a:solidFill>
                <a:latin typeface="Ubuntu"/>
                <a:ea typeface="Ubuntu"/>
                <a:cs typeface="Ubuntu"/>
                <a:sym typeface="Ubuntu"/>
              </a:rPr>
              <a:t>→ Errors are balanced across groups</a:t>
            </a:r>
            <a:endParaRPr sz="1800">
              <a:solidFill>
                <a:schemeClr val="l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b="1" lang="fr" sz="2400">
                <a:latin typeface="Ubuntu"/>
                <a:ea typeface="Ubuntu"/>
                <a:cs typeface="Ubuntu"/>
                <a:sym typeface="Ubuntu"/>
              </a:rPr>
              <a:t>Fairness Stress Test: What If the Model Were Unfair?</a:t>
            </a:r>
            <a:endParaRPr b="1" sz="2400">
              <a:latin typeface="Ubuntu"/>
              <a:ea typeface="Ubuntu"/>
              <a:cs typeface="Ubuntu"/>
              <a:sym typeface="Ubuntu"/>
            </a:endParaRPr>
          </a:p>
        </p:txBody>
      </p:sp>
      <p:sp>
        <p:nvSpPr>
          <p:cNvPr id="245" name="Google Shape;24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46" name="Google Shape;246;p36"/>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247" name="Google Shape;247;p36"/>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248" name="Google Shape;248;p36"/>
          <p:cNvSpPr txBox="1"/>
          <p:nvPr/>
        </p:nvSpPr>
        <p:spPr>
          <a:xfrm>
            <a:off x="376250" y="1075700"/>
            <a:ext cx="633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Ubuntu"/>
              <a:ea typeface="Ubuntu"/>
              <a:cs typeface="Ubuntu"/>
              <a:sym typeface="Ubuntu"/>
            </a:endParaRPr>
          </a:p>
        </p:txBody>
      </p:sp>
      <p:sp>
        <p:nvSpPr>
          <p:cNvPr id="249" name="Google Shape;249;p36"/>
          <p:cNvSpPr txBox="1"/>
          <p:nvPr/>
        </p:nvSpPr>
        <p:spPr>
          <a:xfrm>
            <a:off x="376250" y="1017725"/>
            <a:ext cx="8096100" cy="178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1100">
                <a:solidFill>
                  <a:schemeClr val="dk1"/>
                </a:solidFill>
                <a:latin typeface="Ubuntu"/>
                <a:ea typeface="Ubuntu"/>
                <a:cs typeface="Ubuntu"/>
                <a:sym typeface="Ubuntu"/>
              </a:rPr>
              <a:t>To verify that our fairness pipeline is </a:t>
            </a:r>
            <a:r>
              <a:rPr i="1" lang="fr" sz="1100">
                <a:solidFill>
                  <a:schemeClr val="dk1"/>
                </a:solidFill>
                <a:latin typeface="Ubuntu"/>
                <a:ea typeface="Ubuntu"/>
                <a:cs typeface="Ubuntu"/>
                <a:sym typeface="Ubuntu"/>
              </a:rPr>
              <a:t>actually sensitive</a:t>
            </a:r>
            <a:r>
              <a:rPr lang="fr" sz="1100">
                <a:solidFill>
                  <a:schemeClr val="dk1"/>
                </a:solidFill>
                <a:latin typeface="Ubuntu"/>
                <a:ea typeface="Ubuntu"/>
                <a:cs typeface="Ubuntu"/>
                <a:sym typeface="Ubuntu"/>
              </a:rPr>
              <a:t> to unfair behaviour (and not just always “green”),</a:t>
            </a:r>
            <a:br>
              <a:rPr lang="fr" sz="110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we now build an artificially biased model :</a:t>
            </a:r>
            <a:endParaRPr sz="1100">
              <a:solidFill>
                <a:schemeClr val="dk1"/>
              </a:solidFill>
              <a:latin typeface="Ubuntu"/>
              <a:ea typeface="Ubuntu"/>
              <a:cs typeface="Ubuntu"/>
              <a:sym typeface="Ubuntu"/>
            </a:endParaRPr>
          </a:p>
          <a:p>
            <a:pPr indent="0" lvl="0" marL="0" marR="381000" rtl="0" algn="l">
              <a:lnSpc>
                <a:spcPct val="115000"/>
              </a:lnSpc>
              <a:spcBef>
                <a:spcPts val="1200"/>
              </a:spcBef>
              <a:spcAft>
                <a:spcPts val="0"/>
              </a:spcAft>
              <a:buNone/>
            </a:pPr>
            <a:r>
              <a:rPr lang="fr" sz="1100">
                <a:solidFill>
                  <a:schemeClr val="dk1"/>
                </a:solidFill>
                <a:latin typeface="Ubuntu"/>
                <a:ea typeface="Ubuntu"/>
                <a:cs typeface="Ubuntu"/>
                <a:sym typeface="Ubuntu"/>
              </a:rPr>
              <a:t>We take the predictions of the best model and add a fixed unfair surcharge for smokers (+ </a:t>
            </a:r>
            <a:r>
              <a:rPr lang="fr" sz="1100">
                <a:solidFill>
                  <a:schemeClr val="dk1"/>
                </a:solidFill>
                <a:latin typeface="Ubuntu"/>
                <a:ea typeface="Ubuntu"/>
                <a:cs typeface="Ubuntu"/>
                <a:sym typeface="Ubuntu"/>
              </a:rPr>
              <a:t>5000 CHF</a:t>
            </a:r>
            <a:r>
              <a:rPr lang="fr" sz="1100">
                <a:solidFill>
                  <a:schemeClr val="dk1"/>
                </a:solidFill>
                <a:latin typeface="Ubuntu"/>
                <a:ea typeface="Ubuntu"/>
                <a:cs typeface="Ubuntu"/>
                <a:sym typeface="Ubuntu"/>
              </a:rPr>
              <a:t>).</a:t>
            </a:r>
            <a:endParaRPr sz="1100">
              <a:solidFill>
                <a:schemeClr val="dk1"/>
              </a:solidFill>
              <a:latin typeface="Ubuntu"/>
              <a:ea typeface="Ubuntu"/>
              <a:cs typeface="Ubuntu"/>
              <a:sym typeface="Ubuntu"/>
            </a:endParaRPr>
          </a:p>
          <a:p>
            <a:pPr indent="0" lvl="0" marL="0" rtl="0" algn="l">
              <a:lnSpc>
                <a:spcPct val="115000"/>
              </a:lnSpc>
              <a:spcBef>
                <a:spcPts val="1200"/>
              </a:spcBef>
              <a:spcAft>
                <a:spcPts val="0"/>
              </a:spcAft>
              <a:buNone/>
            </a:pPr>
            <a:r>
              <a:rPr lang="fr" sz="1100">
                <a:solidFill>
                  <a:schemeClr val="dk1"/>
                </a:solidFill>
                <a:latin typeface="Ubuntu"/>
                <a:ea typeface="Ubuntu"/>
                <a:cs typeface="Ubuntu"/>
                <a:sym typeface="Ubuntu"/>
              </a:rPr>
              <a:t>This simulates a pricing policy where the insurer decides to penalize smokers more than their actual risk justifies.</a:t>
            </a:r>
            <a:br>
              <a:rPr lang="fr" sz="1100">
                <a:solidFill>
                  <a:schemeClr val="dk1"/>
                </a:solidFill>
                <a:latin typeface="Ubuntu"/>
                <a:ea typeface="Ubuntu"/>
                <a:cs typeface="Ubuntu"/>
                <a:sym typeface="Ubuntu"/>
              </a:rPr>
            </a:br>
            <a:r>
              <a:rPr lang="fr" sz="1100">
                <a:solidFill>
                  <a:schemeClr val="dk1"/>
                </a:solidFill>
                <a:latin typeface="Ubuntu"/>
                <a:ea typeface="Ubuntu"/>
                <a:cs typeface="Ubuntu"/>
                <a:sym typeface="Ubuntu"/>
              </a:rPr>
              <a:t>We then recompute the fairness metrics on these </a:t>
            </a:r>
            <a:r>
              <a:rPr i="1" lang="fr" sz="1100">
                <a:solidFill>
                  <a:schemeClr val="dk1"/>
                </a:solidFill>
                <a:latin typeface="Ubuntu"/>
                <a:ea typeface="Ubuntu"/>
                <a:cs typeface="Ubuntu"/>
                <a:sym typeface="Ubuntu"/>
              </a:rPr>
              <a:t>biased</a:t>
            </a:r>
            <a:r>
              <a:rPr lang="fr" sz="1100">
                <a:solidFill>
                  <a:schemeClr val="dk1"/>
                </a:solidFill>
                <a:latin typeface="Ubuntu"/>
                <a:ea typeface="Ubuntu"/>
                <a:cs typeface="Ubuntu"/>
                <a:sym typeface="Ubuntu"/>
              </a:rPr>
              <a:t> predictions and compare them to the original model</a:t>
            </a:r>
            <a:endParaRPr sz="1100">
              <a:solidFill>
                <a:schemeClr val="dk1"/>
              </a:solidFill>
              <a:latin typeface="Ubuntu"/>
              <a:ea typeface="Ubuntu"/>
              <a:cs typeface="Ubuntu"/>
              <a:sym typeface="Ubuntu"/>
            </a:endParaRPr>
          </a:p>
          <a:p>
            <a:pPr indent="0" lvl="0" marL="0" rtl="0" algn="l">
              <a:lnSpc>
                <a:spcPct val="115000"/>
              </a:lnSpc>
              <a:spcBef>
                <a:spcPts val="1200"/>
              </a:spcBef>
              <a:spcAft>
                <a:spcPts val="1200"/>
              </a:spcAft>
              <a:buNone/>
            </a:pPr>
            <a:r>
              <a:rPr lang="fr" sz="1100">
                <a:solidFill>
                  <a:schemeClr val="dk1"/>
                </a:solidFill>
                <a:latin typeface="Ubuntu"/>
                <a:ea typeface="Ubuntu"/>
                <a:cs typeface="Ubuntu"/>
                <a:sym typeface="Ubuntu"/>
              </a:rPr>
              <a:t>Results : </a:t>
            </a:r>
            <a:endParaRPr sz="1100">
              <a:solidFill>
                <a:schemeClr val="dk1"/>
              </a:solidFill>
              <a:latin typeface="Ubuntu"/>
              <a:ea typeface="Ubuntu"/>
              <a:cs typeface="Ubuntu"/>
              <a:sym typeface="Ubuntu"/>
            </a:endParaRPr>
          </a:p>
        </p:txBody>
      </p:sp>
      <p:pic>
        <p:nvPicPr>
          <p:cNvPr id="250" name="Google Shape;250;p36" title="Screenshot 2025-12-11 at 19.53.08.png"/>
          <p:cNvPicPr preferRelativeResize="0"/>
          <p:nvPr/>
        </p:nvPicPr>
        <p:blipFill rotWithShape="1">
          <a:blip r:embed="rId3">
            <a:alphaModFix/>
          </a:blip>
          <a:srcRect b="5947" l="0" r="0" t="19990"/>
          <a:stretch/>
        </p:blipFill>
        <p:spPr>
          <a:xfrm>
            <a:off x="1073750" y="2487750"/>
            <a:ext cx="5470476" cy="1790701"/>
          </a:xfrm>
          <a:prstGeom prst="rect">
            <a:avLst/>
          </a:prstGeom>
          <a:noFill/>
          <a:ln>
            <a:noFill/>
          </a:ln>
        </p:spPr>
      </p:pic>
      <p:sp>
        <p:nvSpPr>
          <p:cNvPr id="251" name="Google Shape;251;p36"/>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252" name="Google Shape;252;p36"/>
          <p:cNvSpPr/>
          <p:nvPr/>
        </p:nvSpPr>
        <p:spPr>
          <a:xfrm>
            <a:off x="2423686" y="3272444"/>
            <a:ext cx="782700" cy="23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36"/>
          <p:cNvSpPr/>
          <p:nvPr/>
        </p:nvSpPr>
        <p:spPr>
          <a:xfrm>
            <a:off x="1265295" y="2991050"/>
            <a:ext cx="5213700" cy="23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6"/>
          <p:cNvSpPr/>
          <p:nvPr/>
        </p:nvSpPr>
        <p:spPr>
          <a:xfrm>
            <a:off x="3206386" y="3272444"/>
            <a:ext cx="782700" cy="23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36"/>
          <p:cNvSpPr/>
          <p:nvPr/>
        </p:nvSpPr>
        <p:spPr>
          <a:xfrm>
            <a:off x="5930304" y="3267451"/>
            <a:ext cx="548700" cy="23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6" name="Google Shape;256;p36"/>
          <p:cNvCxnSpPr/>
          <p:nvPr/>
        </p:nvCxnSpPr>
        <p:spPr>
          <a:xfrm rot="10800000">
            <a:off x="6516805" y="3106700"/>
            <a:ext cx="490200" cy="0"/>
          </a:xfrm>
          <a:prstGeom prst="straightConnector1">
            <a:avLst/>
          </a:prstGeom>
          <a:noFill/>
          <a:ln cap="flat" cmpd="sng" w="9525">
            <a:solidFill>
              <a:srgbClr val="FF0000"/>
            </a:solidFill>
            <a:prstDash val="solid"/>
            <a:round/>
            <a:headEnd len="med" w="med" type="none"/>
            <a:tailEnd len="med" w="med" type="triangle"/>
          </a:ln>
        </p:spPr>
      </p:cxnSp>
      <p:sp>
        <p:nvSpPr>
          <p:cNvPr id="257" name="Google Shape;257;p36"/>
          <p:cNvSpPr txBox="1"/>
          <p:nvPr/>
        </p:nvSpPr>
        <p:spPr>
          <a:xfrm>
            <a:off x="6978785" y="2925035"/>
            <a:ext cx="2159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rgbClr val="FF0000"/>
                </a:solidFill>
                <a:latin typeface="Ubuntu"/>
                <a:ea typeface="Ubuntu"/>
                <a:cs typeface="Ubuntu"/>
                <a:sym typeface="Ubuntu"/>
              </a:rPr>
              <a:t>almost no change</a:t>
            </a:r>
            <a:endParaRPr sz="1000">
              <a:solidFill>
                <a:srgbClr val="FF0000"/>
              </a:solidFill>
              <a:latin typeface="Ubuntu"/>
              <a:ea typeface="Ubuntu"/>
              <a:cs typeface="Ubuntu"/>
              <a:sym typeface="Ubuntu"/>
            </a:endParaRPr>
          </a:p>
        </p:txBody>
      </p:sp>
      <p:cxnSp>
        <p:nvCxnSpPr>
          <p:cNvPr id="258" name="Google Shape;258;p36"/>
          <p:cNvCxnSpPr>
            <a:endCxn id="255" idx="3"/>
          </p:cNvCxnSpPr>
          <p:nvPr/>
        </p:nvCxnSpPr>
        <p:spPr>
          <a:xfrm rot="10800000">
            <a:off x="6479004" y="3383101"/>
            <a:ext cx="595500" cy="5100"/>
          </a:xfrm>
          <a:prstGeom prst="straightConnector1">
            <a:avLst/>
          </a:prstGeom>
          <a:noFill/>
          <a:ln cap="flat" cmpd="sng" w="9525">
            <a:solidFill>
              <a:srgbClr val="FF0000"/>
            </a:solidFill>
            <a:prstDash val="solid"/>
            <a:round/>
            <a:headEnd len="med" w="med" type="none"/>
            <a:tailEnd len="med" w="med" type="triangle"/>
          </a:ln>
        </p:spPr>
      </p:cxnSp>
      <p:cxnSp>
        <p:nvCxnSpPr>
          <p:cNvPr id="259" name="Google Shape;259;p36"/>
          <p:cNvCxnSpPr>
            <a:endCxn id="254" idx="3"/>
          </p:cNvCxnSpPr>
          <p:nvPr/>
        </p:nvCxnSpPr>
        <p:spPr>
          <a:xfrm rot="10800000">
            <a:off x="3989086" y="3388094"/>
            <a:ext cx="1499700" cy="393600"/>
          </a:xfrm>
          <a:prstGeom prst="straightConnector1">
            <a:avLst/>
          </a:prstGeom>
          <a:noFill/>
          <a:ln cap="flat" cmpd="sng" w="9525">
            <a:solidFill>
              <a:srgbClr val="FF0000"/>
            </a:solidFill>
            <a:prstDash val="solid"/>
            <a:round/>
            <a:headEnd len="med" w="med" type="none"/>
            <a:tailEnd len="med" w="med" type="triangle"/>
          </a:ln>
        </p:spPr>
      </p:cxnSp>
      <p:cxnSp>
        <p:nvCxnSpPr>
          <p:cNvPr id="260" name="Google Shape;260;p36"/>
          <p:cNvCxnSpPr>
            <a:endCxn id="252" idx="1"/>
          </p:cNvCxnSpPr>
          <p:nvPr/>
        </p:nvCxnSpPr>
        <p:spPr>
          <a:xfrm flipH="1" rot="10800000">
            <a:off x="943186" y="3388094"/>
            <a:ext cx="1480500" cy="204900"/>
          </a:xfrm>
          <a:prstGeom prst="straightConnector1">
            <a:avLst/>
          </a:prstGeom>
          <a:noFill/>
          <a:ln cap="flat" cmpd="sng" w="9525">
            <a:solidFill>
              <a:srgbClr val="FF0000"/>
            </a:solidFill>
            <a:prstDash val="solid"/>
            <a:round/>
            <a:headEnd len="med" w="med" type="none"/>
            <a:tailEnd len="med" w="med" type="triangle"/>
          </a:ln>
        </p:spPr>
      </p:cxnSp>
      <p:sp>
        <p:nvSpPr>
          <p:cNvPr id="261" name="Google Shape;261;p36"/>
          <p:cNvSpPr txBox="1"/>
          <p:nvPr/>
        </p:nvSpPr>
        <p:spPr>
          <a:xfrm>
            <a:off x="7025993" y="3218760"/>
            <a:ext cx="2159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000">
                <a:solidFill>
                  <a:srgbClr val="FF0000"/>
                </a:solidFill>
                <a:latin typeface="Ubuntu"/>
                <a:ea typeface="Ubuntu"/>
                <a:cs typeface="Ubuntu"/>
                <a:sym typeface="Ubuntu"/>
              </a:rPr>
              <a:t>100 % overpricing rate</a:t>
            </a:r>
            <a:endParaRPr b="1" sz="1000">
              <a:solidFill>
                <a:srgbClr val="FF0000"/>
              </a:solidFill>
              <a:latin typeface="Ubuntu"/>
              <a:ea typeface="Ubuntu"/>
              <a:cs typeface="Ubuntu"/>
              <a:sym typeface="Ubuntu"/>
            </a:endParaRPr>
          </a:p>
        </p:txBody>
      </p:sp>
      <p:sp>
        <p:nvSpPr>
          <p:cNvPr id="262" name="Google Shape;262;p36"/>
          <p:cNvSpPr txBox="1"/>
          <p:nvPr/>
        </p:nvSpPr>
        <p:spPr>
          <a:xfrm>
            <a:off x="73269" y="3336765"/>
            <a:ext cx="126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rgbClr val="FF0000"/>
                </a:solidFill>
                <a:latin typeface="Ubuntu"/>
                <a:ea typeface="Ubuntu"/>
                <a:cs typeface="Ubuntu"/>
                <a:sym typeface="Ubuntu"/>
              </a:rPr>
              <a:t>the model consistently </a:t>
            </a:r>
            <a:r>
              <a:rPr b="1" lang="fr" sz="900">
                <a:solidFill>
                  <a:srgbClr val="FF0000"/>
                </a:solidFill>
                <a:latin typeface="Ubuntu"/>
                <a:ea typeface="Ubuntu"/>
                <a:cs typeface="Ubuntu"/>
                <a:sym typeface="Ubuntu"/>
              </a:rPr>
              <a:t>overpredicts </a:t>
            </a:r>
            <a:r>
              <a:rPr lang="fr" sz="900">
                <a:solidFill>
                  <a:srgbClr val="FF0000"/>
                </a:solidFill>
                <a:latin typeface="Ubuntu"/>
                <a:ea typeface="Ubuntu"/>
                <a:cs typeface="Ubuntu"/>
                <a:sym typeface="Ubuntu"/>
              </a:rPr>
              <a:t>their medical charges</a:t>
            </a:r>
            <a:endParaRPr sz="1600">
              <a:solidFill>
                <a:srgbClr val="FF0000"/>
              </a:solidFill>
              <a:latin typeface="Ubuntu"/>
              <a:ea typeface="Ubuntu"/>
              <a:cs typeface="Ubuntu"/>
              <a:sym typeface="Ubuntu"/>
            </a:endParaRPr>
          </a:p>
        </p:txBody>
      </p:sp>
      <p:sp>
        <p:nvSpPr>
          <p:cNvPr id="263" name="Google Shape;263;p36"/>
          <p:cNvSpPr txBox="1"/>
          <p:nvPr/>
        </p:nvSpPr>
        <p:spPr>
          <a:xfrm>
            <a:off x="5336450" y="3603550"/>
            <a:ext cx="3684600" cy="6417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lang="fr" sz="900">
                <a:solidFill>
                  <a:srgbClr val="FF0000"/>
                </a:solidFill>
                <a:latin typeface="Ubuntu"/>
                <a:ea typeface="Ubuntu"/>
                <a:cs typeface="Ubuntu"/>
                <a:sym typeface="Ubuntu"/>
              </a:rPr>
              <a:t>typical pricing error for smokers becomes </a:t>
            </a:r>
            <a:r>
              <a:rPr b="1" lang="fr" sz="900">
                <a:solidFill>
                  <a:srgbClr val="FF0000"/>
                </a:solidFill>
                <a:latin typeface="Ubuntu"/>
                <a:ea typeface="Ubuntu"/>
                <a:cs typeface="Ubuntu"/>
                <a:sym typeface="Ubuntu"/>
              </a:rPr>
              <a:t>20 times </a:t>
            </a:r>
            <a:r>
              <a:rPr lang="fr" sz="900">
                <a:solidFill>
                  <a:srgbClr val="FF0000"/>
                </a:solidFill>
                <a:latin typeface="Ubuntu"/>
                <a:ea typeface="Ubuntu"/>
                <a:cs typeface="Ubuntu"/>
                <a:sym typeface="Ubuntu"/>
              </a:rPr>
              <a:t>larger than before  → group-level unfairness</a:t>
            </a:r>
            <a:endParaRPr sz="900">
              <a:solidFill>
                <a:srgbClr val="FF0000"/>
              </a:solidFill>
              <a:latin typeface="Ubuntu"/>
              <a:ea typeface="Ubuntu"/>
              <a:cs typeface="Ubuntu"/>
              <a:sym typeface="Ubuntu"/>
            </a:endParaRPr>
          </a:p>
          <a:p>
            <a:pPr indent="0" lvl="0" marL="0" rtl="0" algn="l">
              <a:spcBef>
                <a:spcPts val="0"/>
              </a:spcBef>
              <a:spcAft>
                <a:spcPts val="0"/>
              </a:spcAft>
              <a:buNone/>
            </a:pPr>
            <a:r>
              <a:t/>
            </a:r>
            <a:endParaRPr sz="900">
              <a:solidFill>
                <a:srgbClr val="FF0000"/>
              </a:solidFill>
              <a:latin typeface="Ubuntu"/>
              <a:ea typeface="Ubuntu"/>
              <a:cs typeface="Ubuntu"/>
              <a:sym typeface="Ubuntu"/>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sp>
        <p:nvSpPr>
          <p:cNvPr id="268" name="Google Shape;268;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fr" sz="2500">
                <a:latin typeface="Ubuntu"/>
                <a:ea typeface="Ubuntu"/>
                <a:cs typeface="Ubuntu"/>
                <a:sym typeface="Ubuntu"/>
              </a:rPr>
              <a:t>Fairness Dashboard (Baseline vs Biased)</a:t>
            </a:r>
            <a:endParaRPr b="1" sz="2500">
              <a:latin typeface="Ubuntu"/>
              <a:ea typeface="Ubuntu"/>
              <a:cs typeface="Ubuntu"/>
              <a:sym typeface="Ubuntu"/>
            </a:endParaRPr>
          </a:p>
        </p:txBody>
      </p:sp>
      <p:sp>
        <p:nvSpPr>
          <p:cNvPr id="269" name="Google Shape;2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70" name="Google Shape;270;p37"/>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271" name="Google Shape;271;p37"/>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272" name="Google Shape;272;p37"/>
          <p:cNvSpPr txBox="1"/>
          <p:nvPr/>
        </p:nvSpPr>
        <p:spPr>
          <a:xfrm>
            <a:off x="376250" y="1075700"/>
            <a:ext cx="633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Ubuntu"/>
              <a:ea typeface="Ubuntu"/>
              <a:cs typeface="Ubuntu"/>
              <a:sym typeface="Ubuntu"/>
            </a:endParaRPr>
          </a:p>
        </p:txBody>
      </p:sp>
      <p:pic>
        <p:nvPicPr>
          <p:cNvPr id="273" name="Google Shape;273;p37" title="Screenshot 2025-12-11 at 21.18.59.png"/>
          <p:cNvPicPr preferRelativeResize="0"/>
          <p:nvPr/>
        </p:nvPicPr>
        <p:blipFill>
          <a:blip r:embed="rId3">
            <a:alphaModFix/>
          </a:blip>
          <a:stretch>
            <a:fillRect/>
          </a:stretch>
        </p:blipFill>
        <p:spPr>
          <a:xfrm>
            <a:off x="376250" y="1091500"/>
            <a:ext cx="7174526" cy="856550"/>
          </a:xfrm>
          <a:prstGeom prst="rect">
            <a:avLst/>
          </a:prstGeom>
          <a:noFill/>
          <a:ln>
            <a:noFill/>
          </a:ln>
        </p:spPr>
      </p:pic>
      <p:pic>
        <p:nvPicPr>
          <p:cNvPr id="274" name="Google Shape;274;p37"/>
          <p:cNvPicPr preferRelativeResize="0"/>
          <p:nvPr/>
        </p:nvPicPr>
        <p:blipFill>
          <a:blip r:embed="rId4">
            <a:alphaModFix/>
          </a:blip>
          <a:stretch>
            <a:fillRect/>
          </a:stretch>
        </p:blipFill>
        <p:spPr>
          <a:xfrm>
            <a:off x="448425" y="2072189"/>
            <a:ext cx="4293300" cy="2548050"/>
          </a:xfrm>
          <a:prstGeom prst="rect">
            <a:avLst/>
          </a:prstGeom>
          <a:noFill/>
          <a:ln>
            <a:noFill/>
          </a:ln>
        </p:spPr>
      </p:pic>
      <p:sp>
        <p:nvSpPr>
          <p:cNvPr id="275" name="Google Shape;275;p37"/>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3 - Fairness Analysis (Smokers vs Non-Smokers)</a:t>
            </a:r>
            <a:r>
              <a:rPr b="0" i="1" lang="fr" sz="700" u="none" cap="none" strike="noStrike">
                <a:solidFill>
                  <a:schemeClr val="dk1"/>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Part 4 - Discussion &amp; Conclusion</a:t>
            </a:r>
            <a:endParaRPr b="0" i="1" sz="700" u="none" cap="none" strike="noStrike">
              <a:solidFill>
                <a:srgbClr val="9E9E9E"/>
              </a:solidFill>
              <a:latin typeface="Ubuntu"/>
              <a:ea typeface="Ubuntu"/>
              <a:cs typeface="Ubuntu"/>
              <a:sym typeface="Ubuntu"/>
            </a:endParaRPr>
          </a:p>
        </p:txBody>
      </p:sp>
      <p:sp>
        <p:nvSpPr>
          <p:cNvPr id="276" name="Google Shape;276;p37"/>
          <p:cNvSpPr txBox="1"/>
          <p:nvPr/>
        </p:nvSpPr>
        <p:spPr>
          <a:xfrm>
            <a:off x="4836800" y="3156200"/>
            <a:ext cx="4176300" cy="9039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lang="fr" sz="1050">
                <a:solidFill>
                  <a:schemeClr val="dk1"/>
                </a:solidFill>
                <a:latin typeface="Ubuntu"/>
                <a:ea typeface="Ubuntu"/>
                <a:cs typeface="Ubuntu"/>
                <a:sym typeface="Ubuntu"/>
              </a:rPr>
              <a:t>This confirms two things : </a:t>
            </a:r>
            <a:endParaRPr sz="1050">
              <a:solidFill>
                <a:schemeClr val="dk1"/>
              </a:solidFill>
              <a:latin typeface="Ubuntu"/>
              <a:ea typeface="Ubuntu"/>
              <a:cs typeface="Ubuntu"/>
              <a:sym typeface="Ubuntu"/>
            </a:endParaRPr>
          </a:p>
          <a:p>
            <a:pPr indent="-295275" lvl="0" marL="457200" rtl="0" algn="l">
              <a:lnSpc>
                <a:spcPct val="115000"/>
              </a:lnSpc>
              <a:spcBef>
                <a:spcPts val="0"/>
              </a:spcBef>
              <a:spcAft>
                <a:spcPts val="0"/>
              </a:spcAft>
              <a:buClr>
                <a:schemeClr val="dk1"/>
              </a:buClr>
              <a:buSzPts val="1050"/>
              <a:buFont typeface="Ubuntu"/>
              <a:buAutoNum type="arabicPeriod"/>
            </a:pPr>
            <a:r>
              <a:rPr lang="fr" sz="1050">
                <a:solidFill>
                  <a:schemeClr val="dk1"/>
                </a:solidFill>
                <a:latin typeface="Ubuntu"/>
                <a:ea typeface="Ubuntu"/>
                <a:cs typeface="Ubuntu"/>
                <a:sym typeface="Ubuntu"/>
              </a:rPr>
              <a:t>our original model is </a:t>
            </a:r>
            <a:r>
              <a:rPr b="1" lang="fr" sz="1050">
                <a:solidFill>
                  <a:schemeClr val="dk1"/>
                </a:solidFill>
                <a:latin typeface="Ubuntu"/>
                <a:ea typeface="Ubuntu"/>
                <a:cs typeface="Ubuntu"/>
                <a:sym typeface="Ubuntu"/>
              </a:rPr>
              <a:t>fair</a:t>
            </a:r>
            <a:endParaRPr b="1" sz="1050">
              <a:solidFill>
                <a:schemeClr val="dk1"/>
              </a:solidFill>
              <a:latin typeface="Ubuntu"/>
              <a:ea typeface="Ubuntu"/>
              <a:cs typeface="Ubuntu"/>
              <a:sym typeface="Ubuntu"/>
            </a:endParaRPr>
          </a:p>
          <a:p>
            <a:pPr indent="-295275" lvl="0" marL="457200" rtl="0" algn="l">
              <a:lnSpc>
                <a:spcPct val="115000"/>
              </a:lnSpc>
              <a:spcBef>
                <a:spcPts val="0"/>
              </a:spcBef>
              <a:spcAft>
                <a:spcPts val="0"/>
              </a:spcAft>
              <a:buClr>
                <a:schemeClr val="dk1"/>
              </a:buClr>
              <a:buSzPts val="1050"/>
              <a:buFont typeface="Ubuntu"/>
              <a:buAutoNum type="arabicPeriod"/>
            </a:pPr>
            <a:r>
              <a:rPr lang="fr" sz="1050">
                <a:solidFill>
                  <a:schemeClr val="dk1"/>
                </a:solidFill>
                <a:latin typeface="Ubuntu"/>
                <a:ea typeface="Ubuntu"/>
                <a:cs typeface="Ubuntu"/>
                <a:sym typeface="Ubuntu"/>
              </a:rPr>
              <a:t>our fairness pipeline is sensitive and </a:t>
            </a:r>
            <a:r>
              <a:rPr b="1" lang="fr" sz="1050">
                <a:solidFill>
                  <a:schemeClr val="dk1"/>
                </a:solidFill>
                <a:latin typeface="Ubuntu"/>
                <a:ea typeface="Ubuntu"/>
                <a:cs typeface="Ubuntu"/>
                <a:sym typeface="Ubuntu"/>
              </a:rPr>
              <a:t>correctly detects discrimination when it exists.</a:t>
            </a:r>
            <a:endParaRPr b="1" sz="1800">
              <a:solidFill>
                <a:schemeClr val="dk1"/>
              </a:solidFill>
              <a:latin typeface="Ubuntu"/>
              <a:ea typeface="Ubuntu"/>
              <a:cs typeface="Ubuntu"/>
              <a:sym typeface="Ubuntu"/>
            </a:endParaRPr>
          </a:p>
        </p:txBody>
      </p:sp>
      <p:sp>
        <p:nvSpPr>
          <p:cNvPr id="277" name="Google Shape;277;p37"/>
          <p:cNvSpPr/>
          <p:nvPr/>
        </p:nvSpPr>
        <p:spPr>
          <a:xfrm>
            <a:off x="7042150" y="1709348"/>
            <a:ext cx="548700" cy="23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8" name="Google Shape;278;p37"/>
          <p:cNvCxnSpPr/>
          <p:nvPr/>
        </p:nvCxnSpPr>
        <p:spPr>
          <a:xfrm rot="10800000">
            <a:off x="7344975" y="1956275"/>
            <a:ext cx="140700" cy="241800"/>
          </a:xfrm>
          <a:prstGeom prst="straightConnector1">
            <a:avLst/>
          </a:prstGeom>
          <a:noFill/>
          <a:ln cap="flat" cmpd="sng" w="9525">
            <a:solidFill>
              <a:srgbClr val="FF0000"/>
            </a:solidFill>
            <a:prstDash val="solid"/>
            <a:round/>
            <a:headEnd len="med" w="med" type="none"/>
            <a:tailEnd len="med" w="med" type="triangle"/>
          </a:ln>
        </p:spPr>
      </p:cxnSp>
      <p:sp>
        <p:nvSpPr>
          <p:cNvPr id="279" name="Google Shape;279;p37"/>
          <p:cNvSpPr txBox="1"/>
          <p:nvPr/>
        </p:nvSpPr>
        <p:spPr>
          <a:xfrm>
            <a:off x="7012149" y="2108838"/>
            <a:ext cx="2159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rgbClr val="FF0000"/>
                </a:solidFill>
                <a:latin typeface="Ubuntu"/>
                <a:ea typeface="Ubuntu"/>
                <a:cs typeface="Ubuntu"/>
                <a:sym typeface="Ubuntu"/>
              </a:rPr>
              <a:t>strongest signal of discrimination</a:t>
            </a:r>
            <a:endParaRPr sz="1000">
              <a:solidFill>
                <a:srgbClr val="FF0000"/>
              </a:solidFill>
              <a:latin typeface="Ubuntu"/>
              <a:ea typeface="Ubuntu"/>
              <a:cs typeface="Ubuntu"/>
              <a:sym typeface="Ubuntu"/>
            </a:endParaRPr>
          </a:p>
          <a:p>
            <a:pPr indent="0" lvl="0" marL="0" rtl="0" algn="l">
              <a:spcBef>
                <a:spcPts val="0"/>
              </a:spcBef>
              <a:spcAft>
                <a:spcPts val="0"/>
              </a:spcAft>
              <a:buNone/>
            </a:pPr>
            <a:r>
              <a:rPr lang="fr" sz="800">
                <a:solidFill>
                  <a:srgbClr val="FF0000"/>
                </a:solidFill>
                <a:latin typeface="Ubuntu"/>
                <a:ea typeface="Ubuntu"/>
                <a:cs typeface="Ubuntu"/>
                <a:sym typeface="Ubuntu"/>
              </a:rPr>
              <a:t>→   smokers are almost always misclassified as high-cost</a:t>
            </a:r>
            <a:endParaRPr sz="1000">
              <a:solidFill>
                <a:srgbClr val="FF0000"/>
              </a:solidFill>
              <a:latin typeface="Ubuntu"/>
              <a:ea typeface="Ubuntu"/>
              <a:cs typeface="Ubuntu"/>
              <a:sym typeface="Ubuntu"/>
            </a:endParaRPr>
          </a:p>
        </p:txBody>
      </p:sp>
      <p:sp>
        <p:nvSpPr>
          <p:cNvPr id="280" name="Google Shape;280;p37"/>
          <p:cNvSpPr/>
          <p:nvPr/>
        </p:nvSpPr>
        <p:spPr>
          <a:xfrm>
            <a:off x="5570415" y="1708015"/>
            <a:ext cx="548700" cy="241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1" name="Google Shape;281;p37"/>
          <p:cNvCxnSpPr/>
          <p:nvPr/>
        </p:nvCxnSpPr>
        <p:spPr>
          <a:xfrm rot="10800000">
            <a:off x="5821599" y="1940650"/>
            <a:ext cx="140700" cy="241800"/>
          </a:xfrm>
          <a:prstGeom prst="straightConnector1">
            <a:avLst/>
          </a:prstGeom>
          <a:noFill/>
          <a:ln cap="flat" cmpd="sng" w="9525">
            <a:solidFill>
              <a:srgbClr val="FF0000"/>
            </a:solidFill>
            <a:prstDash val="solid"/>
            <a:round/>
            <a:headEnd len="med" w="med" type="none"/>
            <a:tailEnd len="med" w="med" type="triangle"/>
          </a:ln>
        </p:spPr>
      </p:cxnSp>
      <p:sp>
        <p:nvSpPr>
          <p:cNvPr id="282" name="Google Shape;282;p37"/>
          <p:cNvSpPr txBox="1"/>
          <p:nvPr/>
        </p:nvSpPr>
        <p:spPr>
          <a:xfrm>
            <a:off x="4963499" y="2145461"/>
            <a:ext cx="21597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rgbClr val="FF0000"/>
                </a:solidFill>
                <a:latin typeface="Ubuntu"/>
                <a:ea typeface="Ubuntu"/>
                <a:cs typeface="Ubuntu"/>
                <a:sym typeface="Ubuntu"/>
              </a:rPr>
              <a:t>increases </a:t>
            </a:r>
            <a:r>
              <a:rPr lang="fr" sz="1000">
                <a:solidFill>
                  <a:srgbClr val="FF0000"/>
                </a:solidFill>
                <a:latin typeface="Ubuntu"/>
                <a:ea typeface="Ubuntu"/>
                <a:cs typeface="Ubuntu"/>
                <a:sym typeface="Ubuntu"/>
              </a:rPr>
              <a:t>slightly</a:t>
            </a:r>
            <a:r>
              <a:rPr lang="fr" sz="1000">
                <a:solidFill>
                  <a:srgbClr val="FF0000"/>
                </a:solidFill>
                <a:latin typeface="Ubuntu"/>
                <a:ea typeface="Ubuntu"/>
                <a:cs typeface="Ubuntu"/>
                <a:sym typeface="Ubuntu"/>
              </a:rPr>
              <a:t> but not dramatically</a:t>
            </a:r>
            <a:endParaRPr sz="1000">
              <a:solidFill>
                <a:srgbClr val="FF0000"/>
              </a:solidFill>
              <a:latin typeface="Ubuntu"/>
              <a:ea typeface="Ubuntu"/>
              <a:cs typeface="Ubuntu"/>
              <a:sym typeface="Ubuntu"/>
            </a:endParaRPr>
          </a:p>
          <a:p>
            <a:pPr indent="0" lvl="0" marL="0" rtl="0" algn="l">
              <a:spcBef>
                <a:spcPts val="0"/>
              </a:spcBef>
              <a:spcAft>
                <a:spcPts val="0"/>
              </a:spcAft>
              <a:buNone/>
            </a:pPr>
            <a:r>
              <a:rPr lang="fr" sz="800">
                <a:solidFill>
                  <a:srgbClr val="FF0000"/>
                </a:solidFill>
                <a:latin typeface="Ubuntu"/>
                <a:ea typeface="Ubuntu"/>
                <a:cs typeface="Ubuntu"/>
                <a:sym typeface="Ubuntu"/>
              </a:rPr>
              <a:t>→  adding a constant bias doesn’t change who is truly high-cost very much</a:t>
            </a:r>
            <a:endParaRPr sz="1000">
              <a:solidFill>
                <a:srgbClr val="FF0000"/>
              </a:solidFill>
              <a:latin typeface="Ubuntu"/>
              <a:ea typeface="Ubuntu"/>
              <a:cs typeface="Ubuntu"/>
              <a:sym typeface="Ubuntu"/>
            </a:endParaRPr>
          </a:p>
          <a:p>
            <a:pPr indent="0" lvl="0" marL="0" rtl="0" algn="l">
              <a:spcBef>
                <a:spcPts val="0"/>
              </a:spcBef>
              <a:spcAft>
                <a:spcPts val="0"/>
              </a:spcAft>
              <a:buNone/>
            </a:pPr>
            <a:r>
              <a:t/>
            </a:r>
            <a:endParaRPr sz="1000">
              <a:solidFill>
                <a:srgbClr val="FF0000"/>
              </a:solidFill>
              <a:latin typeface="Ubuntu"/>
              <a:ea typeface="Ubuntu"/>
              <a:cs typeface="Ubuntu"/>
              <a:sym typeface="Ubuntu"/>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fr" sz="2500">
                <a:latin typeface="Ubuntu"/>
                <a:ea typeface="Ubuntu"/>
                <a:cs typeface="Ubuntu"/>
                <a:sym typeface="Ubuntu"/>
              </a:rPr>
              <a:t>Conclusion</a:t>
            </a:r>
            <a:endParaRPr b="1" sz="2500">
              <a:latin typeface="Ubuntu"/>
              <a:ea typeface="Ubuntu"/>
              <a:cs typeface="Ubuntu"/>
              <a:sym typeface="Ubuntu"/>
            </a:endParaRPr>
          </a:p>
        </p:txBody>
      </p:sp>
      <p:sp>
        <p:nvSpPr>
          <p:cNvPr id="288" name="Google Shape;28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89" name="Google Shape;289;p38"/>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290" name="Google Shape;290;p38"/>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
        <p:nvSpPr>
          <p:cNvPr id="291" name="Google Shape;291;p38"/>
          <p:cNvSpPr txBox="1"/>
          <p:nvPr/>
        </p:nvSpPr>
        <p:spPr>
          <a:xfrm>
            <a:off x="376250" y="1075700"/>
            <a:ext cx="83124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a:solidFill>
                  <a:schemeClr val="dk1"/>
                </a:solidFill>
                <a:latin typeface="Ubuntu"/>
                <a:ea typeface="Ubuntu"/>
                <a:cs typeface="Ubuntu"/>
                <a:sym typeface="Ubuntu"/>
              </a:rPr>
              <a:t>O</a:t>
            </a:r>
            <a:r>
              <a:rPr lang="fr">
                <a:solidFill>
                  <a:schemeClr val="dk1"/>
                </a:solidFill>
                <a:latin typeface="Ubuntu"/>
                <a:ea typeface="Ubuntu"/>
                <a:cs typeface="Ubuntu"/>
                <a:sym typeface="Ubuntu"/>
              </a:rPr>
              <a:t>ur two-part answer :</a:t>
            </a: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AutoNum type="arabicPeriod"/>
            </a:pPr>
            <a:r>
              <a:rPr lang="fr">
                <a:solidFill>
                  <a:schemeClr val="dk1"/>
                </a:solidFill>
                <a:latin typeface="Ubuntu"/>
                <a:ea typeface="Ubuntu"/>
                <a:cs typeface="Ubuntu"/>
                <a:sym typeface="Ubuntu"/>
              </a:rPr>
              <a:t>Do smokers cost more ?</a:t>
            </a:r>
            <a:br>
              <a:rPr lang="fr">
                <a:solidFill>
                  <a:schemeClr val="dk1"/>
                </a:solidFill>
                <a:latin typeface="Ubuntu"/>
                <a:ea typeface="Ubuntu"/>
                <a:cs typeface="Ubuntu"/>
                <a:sym typeface="Ubuntu"/>
              </a:rPr>
            </a:br>
            <a:r>
              <a:rPr lang="fr">
                <a:solidFill>
                  <a:srgbClr val="F4CCCC"/>
                </a:solidFill>
                <a:latin typeface="Ubuntu"/>
                <a:ea typeface="Ubuntu"/>
                <a:cs typeface="Ubuntu"/>
                <a:sym typeface="Ubuntu"/>
              </a:rPr>
              <a:t> </a:t>
            </a:r>
            <a:r>
              <a:rPr b="1" lang="fr">
                <a:solidFill>
                  <a:srgbClr val="F4CCCC"/>
                </a:solidFill>
                <a:latin typeface="Ubuntu"/>
                <a:ea typeface="Ubuntu"/>
                <a:cs typeface="Ubuntu"/>
                <a:sym typeface="Ubuntu"/>
              </a:rPr>
              <a:t>✔ Yes, due to real medical risk</a:t>
            </a:r>
            <a:br>
              <a:rPr lang="fr">
                <a:solidFill>
                  <a:schemeClr val="dk1"/>
                </a:solidFill>
                <a:latin typeface="Ubuntu"/>
                <a:ea typeface="Ubuntu"/>
                <a:cs typeface="Ubuntu"/>
                <a:sym typeface="Ubuntu"/>
              </a:rPr>
            </a:b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AutoNum type="arabicPeriod"/>
            </a:pPr>
            <a:r>
              <a:rPr lang="fr">
                <a:solidFill>
                  <a:schemeClr val="dk1"/>
                </a:solidFill>
                <a:latin typeface="Ubuntu"/>
                <a:ea typeface="Ubuntu"/>
                <a:cs typeface="Ubuntu"/>
                <a:sym typeface="Ubuntu"/>
              </a:rPr>
              <a:t>Is the model fair ? </a:t>
            </a:r>
            <a:br>
              <a:rPr lang="fr">
                <a:solidFill>
                  <a:schemeClr val="dk1"/>
                </a:solidFill>
                <a:latin typeface="Ubuntu"/>
                <a:ea typeface="Ubuntu"/>
                <a:cs typeface="Ubuntu"/>
                <a:sym typeface="Ubuntu"/>
              </a:rPr>
            </a:br>
            <a:r>
              <a:rPr lang="fr">
                <a:solidFill>
                  <a:schemeClr val="dk1"/>
                </a:solidFill>
                <a:latin typeface="Ubuntu"/>
                <a:ea typeface="Ubuntu"/>
                <a:cs typeface="Ubuntu"/>
                <a:sym typeface="Ubuntu"/>
              </a:rPr>
              <a:t> </a:t>
            </a:r>
            <a:r>
              <a:rPr b="1" lang="fr">
                <a:solidFill>
                  <a:srgbClr val="F4CCCC"/>
                </a:solidFill>
                <a:latin typeface="Ubuntu"/>
                <a:ea typeface="Ubuntu"/>
                <a:cs typeface="Ubuntu"/>
                <a:sym typeface="Ubuntu"/>
              </a:rPr>
              <a:t>✔ Yes, it mirrors true differences without introducing artificial bias</a:t>
            </a:r>
            <a:br>
              <a:rPr lang="fr">
                <a:solidFill>
                  <a:schemeClr val="dk1"/>
                </a:solidFill>
                <a:latin typeface="Ubuntu"/>
                <a:ea typeface="Ubuntu"/>
                <a:cs typeface="Ubuntu"/>
                <a:sym typeface="Ubuntu"/>
              </a:rPr>
            </a:br>
            <a:endParaRPr>
              <a:solidFill>
                <a:schemeClr val="dk1"/>
              </a:solidFill>
              <a:latin typeface="Ubuntu"/>
              <a:ea typeface="Ubuntu"/>
              <a:cs typeface="Ubuntu"/>
              <a:sym typeface="Ubuntu"/>
            </a:endParaRPr>
          </a:p>
          <a:p>
            <a:pPr indent="0" lvl="0" marL="0" rtl="0" algn="l">
              <a:lnSpc>
                <a:spcPct val="115000"/>
              </a:lnSpc>
              <a:spcBef>
                <a:spcPts val="0"/>
              </a:spcBef>
              <a:spcAft>
                <a:spcPts val="0"/>
              </a:spcAft>
              <a:buNone/>
            </a:pPr>
            <a:r>
              <a:rPr lang="fr">
                <a:solidFill>
                  <a:schemeClr val="dk1"/>
                </a:solidFill>
                <a:latin typeface="Ubuntu"/>
                <a:ea typeface="Ubuntu"/>
                <a:cs typeface="Ubuntu"/>
                <a:sym typeface="Ubuntu"/>
              </a:rPr>
              <a:t>Additional validation :</a:t>
            </a: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Font typeface="Ubuntu"/>
              <a:buChar char="●"/>
            </a:pPr>
            <a:r>
              <a:rPr lang="fr">
                <a:solidFill>
                  <a:schemeClr val="dk1"/>
                </a:solidFill>
                <a:latin typeface="Ubuntu"/>
                <a:ea typeface="Ubuntu"/>
                <a:cs typeface="Ubuntu"/>
                <a:sym typeface="Ubuntu"/>
              </a:rPr>
              <a:t>Statistical tests confirm fairness</a:t>
            </a:r>
            <a:endParaRPr>
              <a:solidFill>
                <a:schemeClr val="dk1"/>
              </a:solidFill>
              <a:latin typeface="Ubuntu"/>
              <a:ea typeface="Ubuntu"/>
              <a:cs typeface="Ubuntu"/>
              <a:sym typeface="Ubuntu"/>
            </a:endParaRPr>
          </a:p>
          <a:p>
            <a:pPr indent="-317500" lvl="0" marL="457200" rtl="0" algn="l">
              <a:lnSpc>
                <a:spcPct val="115000"/>
              </a:lnSpc>
              <a:spcBef>
                <a:spcPts val="0"/>
              </a:spcBef>
              <a:spcAft>
                <a:spcPts val="0"/>
              </a:spcAft>
              <a:buClr>
                <a:schemeClr val="dk1"/>
              </a:buClr>
              <a:buSzPts val="1400"/>
              <a:buFont typeface="Ubuntu"/>
              <a:buChar char="●"/>
            </a:pPr>
            <a:r>
              <a:rPr lang="fr">
                <a:solidFill>
                  <a:schemeClr val="dk1"/>
                </a:solidFill>
                <a:latin typeface="Ubuntu"/>
                <a:ea typeface="Ubuntu"/>
                <a:cs typeface="Ubuntu"/>
                <a:sym typeface="Ubuntu"/>
              </a:rPr>
              <a:t>Stress test shows fairness metrics correctly detect discrimination</a:t>
            </a:r>
            <a:endParaRPr>
              <a:solidFill>
                <a:schemeClr val="dk1"/>
              </a:solidFill>
              <a:latin typeface="Ubuntu"/>
              <a:ea typeface="Ubuntu"/>
              <a:cs typeface="Ubuntu"/>
              <a:sym typeface="Ubuntu"/>
            </a:endParaRPr>
          </a:p>
        </p:txBody>
      </p:sp>
      <p:sp>
        <p:nvSpPr>
          <p:cNvPr id="292" name="Google Shape;292;p38"/>
          <p:cNvSpPr txBox="1"/>
          <p:nvPr/>
        </p:nvSpPr>
        <p:spPr>
          <a:xfrm>
            <a:off x="0" y="0"/>
            <a:ext cx="9144000" cy="292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700"/>
              <a:buFont typeface="Arial"/>
              <a:buNone/>
            </a:pPr>
            <a:r>
              <a:rPr i="1" lang="fr" sz="700">
                <a:solidFill>
                  <a:srgbClr val="9E9E9E"/>
                </a:solidFill>
                <a:latin typeface="Ubuntu"/>
                <a:ea typeface="Ubuntu"/>
                <a:cs typeface="Ubuntu"/>
                <a:sym typeface="Ubuntu"/>
              </a:rPr>
              <a:t>Part 1 - </a:t>
            </a:r>
            <a:r>
              <a:rPr b="0" i="1" lang="fr" sz="700" u="none" cap="none" strike="noStrike">
                <a:solidFill>
                  <a:srgbClr val="9E9E9E"/>
                </a:solidFill>
                <a:latin typeface="Ubuntu"/>
                <a:ea typeface="Ubuntu"/>
                <a:cs typeface="Ubuntu"/>
                <a:sym typeface="Ubuntu"/>
              </a:rPr>
              <a:t>Data Preparation </a:t>
            </a:r>
            <a:r>
              <a:rPr i="1" lang="fr" sz="700">
                <a:solidFill>
                  <a:srgbClr val="9E9E9E"/>
                </a:solidFill>
                <a:latin typeface="Ubuntu"/>
                <a:ea typeface="Ubuntu"/>
                <a:cs typeface="Ubuntu"/>
                <a:sym typeface="Ubuntu"/>
              </a:rPr>
              <a:t>&amp; Exploration</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Part 2 - Predictive Modeling </a:t>
            </a:r>
            <a:r>
              <a:rPr b="0" i="1" lang="fr" sz="700" u="none" cap="none" strike="noStrike">
                <a:solidFill>
                  <a:srgbClr val="9E9E9E"/>
                </a:solidFill>
                <a:latin typeface="Ubuntu"/>
                <a:ea typeface="Ubuntu"/>
                <a:cs typeface="Ubuntu"/>
                <a:sym typeface="Ubuntu"/>
              </a:rPr>
              <a:t>         </a:t>
            </a:r>
            <a:r>
              <a:rPr i="1" lang="fr" sz="700">
                <a:solidFill>
                  <a:schemeClr val="lt2"/>
                </a:solidFill>
                <a:latin typeface="Ubuntu"/>
                <a:ea typeface="Ubuntu"/>
                <a:cs typeface="Ubuntu"/>
                <a:sym typeface="Ubuntu"/>
              </a:rPr>
              <a:t>Part 3 - Fairness Analysis (Smokers vs Non-Smokers)</a:t>
            </a:r>
            <a:r>
              <a:rPr b="0" i="1" lang="fr" sz="700" u="none" cap="none" strike="noStrike">
                <a:solidFill>
                  <a:schemeClr val="lt2"/>
                </a:solidFill>
                <a:latin typeface="Ubuntu"/>
                <a:ea typeface="Ubuntu"/>
                <a:cs typeface="Ubuntu"/>
                <a:sym typeface="Ubuntu"/>
              </a:rPr>
              <a:t>  </a:t>
            </a:r>
            <a:r>
              <a:rPr b="0" i="1" lang="fr" sz="700" u="none" cap="none" strike="noStrike">
                <a:solidFill>
                  <a:srgbClr val="9E9E9E"/>
                </a:solidFill>
                <a:latin typeface="Ubuntu"/>
                <a:ea typeface="Ubuntu"/>
                <a:cs typeface="Ubuntu"/>
                <a:sym typeface="Ubuntu"/>
              </a:rPr>
              <a:t>      </a:t>
            </a:r>
            <a:r>
              <a:rPr i="1" lang="fr" sz="700">
                <a:solidFill>
                  <a:srgbClr val="9E9E9E"/>
                </a:solidFill>
                <a:latin typeface="Ubuntu"/>
                <a:ea typeface="Ubuntu"/>
                <a:cs typeface="Ubuntu"/>
                <a:sym typeface="Ubuntu"/>
              </a:rPr>
              <a:t> </a:t>
            </a:r>
            <a:r>
              <a:rPr i="1" lang="fr" sz="700">
                <a:solidFill>
                  <a:schemeClr val="dk1"/>
                </a:solidFill>
                <a:latin typeface="Ubuntu"/>
                <a:ea typeface="Ubuntu"/>
                <a:cs typeface="Ubuntu"/>
                <a:sym typeface="Ubuntu"/>
              </a:rPr>
              <a:t>Part 4 - Conclusion</a:t>
            </a:r>
            <a:endParaRPr b="0" i="1" sz="700" u="none" cap="none" strike="noStrike">
              <a:solidFill>
                <a:schemeClr val="dk1"/>
              </a:solidFill>
              <a:latin typeface="Ubuntu"/>
              <a:ea typeface="Ubuntu"/>
              <a:cs typeface="Ubuntu"/>
              <a:sym typeface="Ubuntu"/>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39"/>
          <p:cNvSpPr txBox="1"/>
          <p:nvPr>
            <p:ph type="title"/>
          </p:nvPr>
        </p:nvSpPr>
        <p:spPr>
          <a:xfrm>
            <a:off x="2110625" y="2021825"/>
            <a:ext cx="45282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sz="2500">
                <a:latin typeface="Ubuntu"/>
                <a:ea typeface="Ubuntu"/>
                <a:cs typeface="Ubuntu"/>
                <a:sym typeface="Ubuntu"/>
              </a:rPr>
              <a:t>Thank You for your attention !</a:t>
            </a:r>
            <a:endParaRPr b="1" sz="2500">
              <a:latin typeface="Ubuntu"/>
              <a:ea typeface="Ubuntu"/>
              <a:cs typeface="Ubuntu"/>
              <a:sym typeface="Ubuntu"/>
            </a:endParaRPr>
          </a:p>
        </p:txBody>
      </p:sp>
      <p:sp>
        <p:nvSpPr>
          <p:cNvPr id="298" name="Google Shape;29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latin typeface="Ubuntu"/>
                <a:ea typeface="Ubuntu"/>
                <a:cs typeface="Ubuntu"/>
                <a:sym typeface="Ubuntu"/>
              </a:rPr>
              <a:t>‹#›</a:t>
            </a:fld>
            <a:endParaRPr>
              <a:latin typeface="Ubuntu"/>
              <a:ea typeface="Ubuntu"/>
              <a:cs typeface="Ubuntu"/>
              <a:sym typeface="Ubuntu"/>
            </a:endParaRPr>
          </a:p>
        </p:txBody>
      </p:sp>
      <p:sp>
        <p:nvSpPr>
          <p:cNvPr id="299" name="Google Shape;299;p39"/>
          <p:cNvSpPr txBox="1"/>
          <p:nvPr/>
        </p:nvSpPr>
        <p:spPr>
          <a:xfrm>
            <a:off x="3369900" y="4744375"/>
            <a:ext cx="2404200" cy="2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chemeClr val="lt2"/>
                </a:solidFill>
                <a:latin typeface="Ubuntu"/>
                <a:ea typeface="Ubuntu"/>
                <a:cs typeface="Ubuntu"/>
                <a:sym typeface="Ubuntu"/>
              </a:rPr>
              <a:t>Machine Learning &amp; Data Mining</a:t>
            </a:r>
            <a:endParaRPr b="0" i="0" sz="1000" u="none" cap="none" strike="noStrike">
              <a:solidFill>
                <a:schemeClr val="lt2"/>
              </a:solidFill>
              <a:latin typeface="Ubuntu"/>
              <a:ea typeface="Ubuntu"/>
              <a:cs typeface="Ubuntu"/>
              <a:sym typeface="Ubuntu"/>
            </a:endParaRPr>
          </a:p>
        </p:txBody>
      </p:sp>
      <p:sp>
        <p:nvSpPr>
          <p:cNvPr id="300" name="Google Shape;300;p39"/>
          <p:cNvSpPr txBox="1"/>
          <p:nvPr/>
        </p:nvSpPr>
        <p:spPr>
          <a:xfrm>
            <a:off x="5161400" y="1017725"/>
            <a:ext cx="3527100" cy="10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br>
              <a:rPr lang="fr" sz="1300">
                <a:solidFill>
                  <a:schemeClr val="dk1"/>
                </a:solidFill>
                <a:latin typeface="Ubuntu"/>
                <a:ea typeface="Ubuntu"/>
                <a:cs typeface="Ubuntu"/>
                <a:sym typeface="Ubuntu"/>
              </a:rPr>
            </a:br>
            <a:endParaRPr sz="1300">
              <a:solidFill>
                <a:schemeClr val="dk1"/>
              </a:solidFill>
              <a:latin typeface="Ubuntu"/>
              <a:ea typeface="Ubuntu"/>
              <a:cs typeface="Ubuntu"/>
              <a:sym typeface="Ubuntu"/>
            </a:endParaRPr>
          </a:p>
          <a:p>
            <a:pPr indent="0" lvl="0" marL="0" rtl="0" algn="l">
              <a:spcBef>
                <a:spcPts val="400"/>
              </a:spcBef>
              <a:spcAft>
                <a:spcPts val="0"/>
              </a:spcAft>
              <a:buNone/>
            </a:pPr>
            <a:r>
              <a:t/>
            </a:r>
            <a:endParaRPr sz="2000">
              <a:solidFill>
                <a:schemeClr val="dk1"/>
              </a:solidFill>
              <a:latin typeface="Ubuntu"/>
              <a:ea typeface="Ubuntu"/>
              <a:cs typeface="Ubuntu"/>
              <a:sym typeface="Ubuntu"/>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